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72" r:id="rId9"/>
    <p:sldId id="264" r:id="rId10"/>
    <p:sldId id="265" r:id="rId11"/>
    <p:sldId id="269" r:id="rId12"/>
    <p:sldId id="273" r:id="rId13"/>
    <p:sldId id="270" r:id="rId14"/>
    <p:sldId id="271" r:id="rId15"/>
    <p:sldId id="268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0DC66D-BDA4-4FF7-BE7A-D5B8423C1E81}" v="117" dt="2025-06-20T15:21:30.1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AA5180-13DF-4D39-806F-FB23428F92A2}" type="datetimeFigureOut">
              <a:rPr lang="fr-FR" smtClean="0"/>
              <a:t>20/06/2025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055A2A-200C-4B03-A983-E1745A18134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8896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E594F6-AFA2-4E6D-9D47-5303D4C61C52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4773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E594F6-AFA2-4E6D-9D47-5303D4C61C52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4217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6657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6/20/2025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494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jpe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rgbClr val="0084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 idx="4294967295"/>
          </p:nvPr>
        </p:nvSpPr>
        <p:spPr>
          <a:xfrm>
            <a:off x="638881" y="390525"/>
            <a:ext cx="10909640" cy="1510301"/>
          </a:xfrm>
        </p:spPr>
        <p:txBody>
          <a:bodyPr anchor="ctr">
            <a:noAutofit/>
          </a:bodyPr>
          <a:lstStyle/>
          <a:p>
            <a:pPr algn="ctr"/>
            <a:r>
              <a:rPr lang="de-DE" sz="9600" dirty="0">
                <a:solidFill>
                  <a:srgbClr val="FFFFFF"/>
                </a:solidFill>
                <a:latin typeface="+mn-lt"/>
              </a:rPr>
              <a:t>Soutenance d‘alternance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4294967295"/>
          </p:nvPr>
        </p:nvSpPr>
        <p:spPr>
          <a:xfrm>
            <a:off x="2895601" y="1900826"/>
            <a:ext cx="6396204" cy="662542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rgbClr val="FFFFFF"/>
                </a:solidFill>
              </a:rPr>
              <a:t>Par Dorian AYOUL, </a:t>
            </a:r>
            <a:r>
              <a:rPr lang="fr-FR" sz="3600" dirty="0">
                <a:solidFill>
                  <a:srgbClr val="FFFFFF"/>
                </a:solidFill>
              </a:rPr>
              <a:t>élève</a:t>
            </a:r>
            <a:r>
              <a:rPr lang="de-DE" sz="3600" dirty="0">
                <a:solidFill>
                  <a:srgbClr val="FFFFFF"/>
                </a:solidFill>
              </a:rPr>
              <a:t> en 5ème </a:t>
            </a:r>
            <a:r>
              <a:rPr lang="de-DE" sz="3600" noProof="1">
                <a:solidFill>
                  <a:srgbClr val="FFFFFF"/>
                </a:solidFill>
              </a:rPr>
              <a:t>année</a:t>
            </a:r>
            <a:r>
              <a:rPr lang="de-DE" sz="3600" dirty="0">
                <a:solidFill>
                  <a:srgbClr val="FFFFFF"/>
                </a:solidFill>
              </a:rPr>
              <a:t> à EPITECH Rennes</a:t>
            </a:r>
          </a:p>
        </p:txBody>
      </p:sp>
      <p:sp>
        <p:nvSpPr>
          <p:cNvPr id="44" name="Rectangle 7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DB625C-D13A-4F71-B269-7C336AC164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833" y="3429000"/>
            <a:ext cx="7621736" cy="254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rgbClr val="0084FF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 idx="4294967295"/>
          </p:nvPr>
        </p:nvSpPr>
        <p:spPr>
          <a:xfrm>
            <a:off x="5622061" y="762538"/>
            <a:ext cx="5649349" cy="3199862"/>
          </a:xfrm>
        </p:spPr>
        <p:txBody>
          <a:bodyPr anchor="b">
            <a:normAutofit/>
          </a:bodyPr>
          <a:lstStyle/>
          <a:p>
            <a:pPr algn="ctr"/>
            <a:r>
              <a:rPr lang="de-DE" sz="9600" b="1" dirty="0">
                <a:solidFill>
                  <a:srgbClr val="FBF9F6"/>
                </a:solidFill>
                <a:latin typeface="+mn-lt"/>
              </a:rPr>
              <a:t>Sommaire</a:t>
            </a: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7682" y="4043302"/>
            <a:ext cx="5303520" cy="27432"/>
          </a:xfrm>
          <a:custGeom>
            <a:avLst/>
            <a:gdLst>
              <a:gd name="connsiteX0" fmla="*/ 0 w 5303520"/>
              <a:gd name="connsiteY0" fmla="*/ 0 h 27432"/>
              <a:gd name="connsiteX1" fmla="*/ 556870 w 5303520"/>
              <a:gd name="connsiteY1" fmla="*/ 0 h 27432"/>
              <a:gd name="connsiteX2" fmla="*/ 1272845 w 5303520"/>
              <a:gd name="connsiteY2" fmla="*/ 0 h 27432"/>
              <a:gd name="connsiteX3" fmla="*/ 1882750 w 5303520"/>
              <a:gd name="connsiteY3" fmla="*/ 0 h 27432"/>
              <a:gd name="connsiteX4" fmla="*/ 2439619 w 5303520"/>
              <a:gd name="connsiteY4" fmla="*/ 0 h 27432"/>
              <a:gd name="connsiteX5" fmla="*/ 3155594 w 5303520"/>
              <a:gd name="connsiteY5" fmla="*/ 0 h 27432"/>
              <a:gd name="connsiteX6" fmla="*/ 3818534 w 5303520"/>
              <a:gd name="connsiteY6" fmla="*/ 0 h 27432"/>
              <a:gd name="connsiteX7" fmla="*/ 4481474 w 5303520"/>
              <a:gd name="connsiteY7" fmla="*/ 0 h 27432"/>
              <a:gd name="connsiteX8" fmla="*/ 5303520 w 5303520"/>
              <a:gd name="connsiteY8" fmla="*/ 0 h 27432"/>
              <a:gd name="connsiteX9" fmla="*/ 5303520 w 5303520"/>
              <a:gd name="connsiteY9" fmla="*/ 27432 h 27432"/>
              <a:gd name="connsiteX10" fmla="*/ 4746650 w 5303520"/>
              <a:gd name="connsiteY10" fmla="*/ 27432 h 27432"/>
              <a:gd name="connsiteX11" fmla="*/ 4242816 w 5303520"/>
              <a:gd name="connsiteY11" fmla="*/ 27432 h 27432"/>
              <a:gd name="connsiteX12" fmla="*/ 3526841 w 5303520"/>
              <a:gd name="connsiteY12" fmla="*/ 27432 h 27432"/>
              <a:gd name="connsiteX13" fmla="*/ 2969971 w 5303520"/>
              <a:gd name="connsiteY13" fmla="*/ 27432 h 27432"/>
              <a:gd name="connsiteX14" fmla="*/ 2253996 w 5303520"/>
              <a:gd name="connsiteY14" fmla="*/ 27432 h 27432"/>
              <a:gd name="connsiteX15" fmla="*/ 1484986 w 5303520"/>
              <a:gd name="connsiteY15" fmla="*/ 27432 h 27432"/>
              <a:gd name="connsiteX16" fmla="*/ 875081 w 5303520"/>
              <a:gd name="connsiteY16" fmla="*/ 27432 h 27432"/>
              <a:gd name="connsiteX17" fmla="*/ 0 w 5303520"/>
              <a:gd name="connsiteY17" fmla="*/ 27432 h 27432"/>
              <a:gd name="connsiteX18" fmla="*/ 0 w 5303520"/>
              <a:gd name="connsiteY18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03520" h="27432" fill="none" extrusionOk="0">
                <a:moveTo>
                  <a:pt x="0" y="0"/>
                </a:moveTo>
                <a:cubicBezTo>
                  <a:pt x="191807" y="-19560"/>
                  <a:pt x="373092" y="14032"/>
                  <a:pt x="556870" y="0"/>
                </a:cubicBezTo>
                <a:cubicBezTo>
                  <a:pt x="740648" y="-14032"/>
                  <a:pt x="1109645" y="5886"/>
                  <a:pt x="1272845" y="0"/>
                </a:cubicBezTo>
                <a:cubicBezTo>
                  <a:pt x="1436045" y="-5886"/>
                  <a:pt x="1723352" y="-21940"/>
                  <a:pt x="1882750" y="0"/>
                </a:cubicBezTo>
                <a:cubicBezTo>
                  <a:pt x="2042148" y="21940"/>
                  <a:pt x="2308812" y="-23394"/>
                  <a:pt x="2439619" y="0"/>
                </a:cubicBezTo>
                <a:cubicBezTo>
                  <a:pt x="2570426" y="23394"/>
                  <a:pt x="2936980" y="-3315"/>
                  <a:pt x="3155594" y="0"/>
                </a:cubicBezTo>
                <a:cubicBezTo>
                  <a:pt x="3374208" y="3315"/>
                  <a:pt x="3528026" y="24519"/>
                  <a:pt x="3818534" y="0"/>
                </a:cubicBezTo>
                <a:cubicBezTo>
                  <a:pt x="4109042" y="-24519"/>
                  <a:pt x="4161759" y="-18720"/>
                  <a:pt x="4481474" y="0"/>
                </a:cubicBezTo>
                <a:cubicBezTo>
                  <a:pt x="4801189" y="18720"/>
                  <a:pt x="5011126" y="27308"/>
                  <a:pt x="5303520" y="0"/>
                </a:cubicBezTo>
                <a:cubicBezTo>
                  <a:pt x="5303593" y="13343"/>
                  <a:pt x="5303797" y="14402"/>
                  <a:pt x="5303520" y="27432"/>
                </a:cubicBezTo>
                <a:cubicBezTo>
                  <a:pt x="5132450" y="9645"/>
                  <a:pt x="4953391" y="27858"/>
                  <a:pt x="4746650" y="27432"/>
                </a:cubicBezTo>
                <a:cubicBezTo>
                  <a:pt x="4539909" y="27007"/>
                  <a:pt x="4361261" y="16312"/>
                  <a:pt x="4242816" y="27432"/>
                </a:cubicBezTo>
                <a:cubicBezTo>
                  <a:pt x="4124371" y="38552"/>
                  <a:pt x="3754907" y="30170"/>
                  <a:pt x="3526841" y="27432"/>
                </a:cubicBezTo>
                <a:cubicBezTo>
                  <a:pt x="3298775" y="24694"/>
                  <a:pt x="3164473" y="13057"/>
                  <a:pt x="2969971" y="27432"/>
                </a:cubicBezTo>
                <a:cubicBezTo>
                  <a:pt x="2775469" y="41808"/>
                  <a:pt x="2608536" y="11194"/>
                  <a:pt x="2253996" y="27432"/>
                </a:cubicBezTo>
                <a:cubicBezTo>
                  <a:pt x="1899456" y="43670"/>
                  <a:pt x="1752044" y="37933"/>
                  <a:pt x="1484986" y="27432"/>
                </a:cubicBezTo>
                <a:cubicBezTo>
                  <a:pt x="1217928" y="16932"/>
                  <a:pt x="1060609" y="4360"/>
                  <a:pt x="875081" y="27432"/>
                </a:cubicBezTo>
                <a:cubicBezTo>
                  <a:pt x="689553" y="50504"/>
                  <a:pt x="188846" y="34372"/>
                  <a:pt x="0" y="27432"/>
                </a:cubicBezTo>
                <a:cubicBezTo>
                  <a:pt x="-1027" y="16774"/>
                  <a:pt x="589" y="8401"/>
                  <a:pt x="0" y="0"/>
                </a:cubicBezTo>
                <a:close/>
              </a:path>
              <a:path w="5303520" h="27432" stroke="0" extrusionOk="0">
                <a:moveTo>
                  <a:pt x="0" y="0"/>
                </a:moveTo>
                <a:cubicBezTo>
                  <a:pt x="181149" y="2038"/>
                  <a:pt x="442175" y="-27591"/>
                  <a:pt x="609905" y="0"/>
                </a:cubicBezTo>
                <a:cubicBezTo>
                  <a:pt x="777636" y="27591"/>
                  <a:pt x="947554" y="-24271"/>
                  <a:pt x="1113739" y="0"/>
                </a:cubicBezTo>
                <a:cubicBezTo>
                  <a:pt x="1279924" y="24271"/>
                  <a:pt x="1721318" y="-30891"/>
                  <a:pt x="1882750" y="0"/>
                </a:cubicBezTo>
                <a:cubicBezTo>
                  <a:pt x="2044182" y="30891"/>
                  <a:pt x="2270822" y="-14002"/>
                  <a:pt x="2492654" y="0"/>
                </a:cubicBezTo>
                <a:cubicBezTo>
                  <a:pt x="2714486" y="14002"/>
                  <a:pt x="2822632" y="27292"/>
                  <a:pt x="3102559" y="0"/>
                </a:cubicBezTo>
                <a:cubicBezTo>
                  <a:pt x="3382487" y="-27292"/>
                  <a:pt x="3489743" y="-31235"/>
                  <a:pt x="3871570" y="0"/>
                </a:cubicBezTo>
                <a:cubicBezTo>
                  <a:pt x="4253397" y="31235"/>
                  <a:pt x="4301475" y="22800"/>
                  <a:pt x="4428439" y="0"/>
                </a:cubicBezTo>
                <a:cubicBezTo>
                  <a:pt x="4555403" y="-22800"/>
                  <a:pt x="5018410" y="43534"/>
                  <a:pt x="5303520" y="0"/>
                </a:cubicBezTo>
                <a:cubicBezTo>
                  <a:pt x="5303295" y="13080"/>
                  <a:pt x="5304172" y="14823"/>
                  <a:pt x="5303520" y="27432"/>
                </a:cubicBezTo>
                <a:cubicBezTo>
                  <a:pt x="5082751" y="27600"/>
                  <a:pt x="4993374" y="33244"/>
                  <a:pt x="4746650" y="27432"/>
                </a:cubicBezTo>
                <a:cubicBezTo>
                  <a:pt x="4499926" y="21621"/>
                  <a:pt x="4368648" y="1957"/>
                  <a:pt x="4083710" y="27432"/>
                </a:cubicBezTo>
                <a:cubicBezTo>
                  <a:pt x="3798772" y="52907"/>
                  <a:pt x="3729434" y="14645"/>
                  <a:pt x="3473806" y="27432"/>
                </a:cubicBezTo>
                <a:cubicBezTo>
                  <a:pt x="3218178" y="40219"/>
                  <a:pt x="3056855" y="39147"/>
                  <a:pt x="2704795" y="27432"/>
                </a:cubicBezTo>
                <a:cubicBezTo>
                  <a:pt x="2352735" y="15717"/>
                  <a:pt x="2319447" y="38401"/>
                  <a:pt x="1935785" y="27432"/>
                </a:cubicBezTo>
                <a:cubicBezTo>
                  <a:pt x="1552123" y="16464"/>
                  <a:pt x="1532619" y="8678"/>
                  <a:pt x="1378915" y="27432"/>
                </a:cubicBezTo>
                <a:cubicBezTo>
                  <a:pt x="1225211" y="46187"/>
                  <a:pt x="1038692" y="43452"/>
                  <a:pt x="715975" y="27432"/>
                </a:cubicBezTo>
                <a:cubicBezTo>
                  <a:pt x="393258" y="11412"/>
                  <a:pt x="303768" y="36088"/>
                  <a:pt x="0" y="27432"/>
                </a:cubicBezTo>
                <a:cubicBezTo>
                  <a:pt x="151" y="17585"/>
                  <a:pt x="-198" y="13251"/>
                  <a:pt x="0" y="0"/>
                </a:cubicBezTo>
                <a:close/>
              </a:path>
            </a:pathLst>
          </a:custGeom>
          <a:solidFill>
            <a:srgbClr val="FBF9F6"/>
          </a:solidFill>
          <a:ln w="41275" cap="rnd">
            <a:solidFill>
              <a:srgbClr val="FBF9F6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84097E-D898-4AEC-BC70-DA7CA9798BDD}"/>
              </a:ext>
            </a:extLst>
          </p:cNvPr>
          <p:cNvSpPr txBox="1"/>
          <p:nvPr/>
        </p:nvSpPr>
        <p:spPr>
          <a:xfrm>
            <a:off x="0" y="0"/>
            <a:ext cx="4149969" cy="68941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  <a:ea typeface="+mn-ea"/>
                <a:cs typeface="+mn-cs"/>
              </a:rPr>
              <a:t>Introduction</a:t>
            </a:r>
            <a:endParaRPr lang="fr-FR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  <a:ea typeface="+mn-ea"/>
                <a:cs typeface="+mn-cs"/>
              </a:rPr>
              <a:t>L’entreprise, </a:t>
            </a:r>
            <a:r>
              <a:rPr kumimoji="0" lang="fr-FR" sz="3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  <a:ea typeface="+mn-ea"/>
                <a:cs typeface="+mn-cs"/>
              </a:rPr>
              <a:t>NewLogUp</a:t>
            </a:r>
            <a:endParaRPr lang="fr-FR" sz="3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  <a:ea typeface="+mn-ea"/>
                <a:cs typeface="+mn-cs"/>
              </a:rPr>
              <a:t>    Son histoire</a:t>
            </a:r>
            <a:endParaRPr lang="fr-FR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  <a:ea typeface="+mn-ea"/>
                <a:cs typeface="+mn-cs"/>
              </a:rPr>
              <a:t>    </a:t>
            </a:r>
            <a:r>
              <a:rPr lang="fr-FR" sz="3400" b="0" dirty="0">
                <a:solidFill>
                  <a:prstClr val="black"/>
                </a:solidFill>
                <a:latin typeface="The Hand"/>
              </a:rPr>
              <a:t>S</a:t>
            </a:r>
            <a:r>
              <a:rPr kumimoji="0" lang="fr-FR" sz="3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  <a:ea typeface="+mn-ea"/>
                <a:cs typeface="+mn-cs"/>
              </a:rPr>
              <a:t>ecteur d’activité et clients</a:t>
            </a:r>
            <a:endParaRPr lang="fr-FR" sz="3400" dirty="0">
              <a:solidFill>
                <a:prstClr val="black"/>
              </a:solidFill>
              <a:latin typeface="The Han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  <a:ea typeface="+mn-ea"/>
                <a:cs typeface="+mn-cs"/>
              </a:rPr>
              <a:t>    Solution et modèle économique</a:t>
            </a:r>
            <a:endParaRPr lang="fr-FR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  <a:ea typeface="+mn-ea"/>
                <a:cs typeface="+mn-cs"/>
              </a:rPr>
              <a:t>    </a:t>
            </a:r>
            <a:r>
              <a:rPr lang="fr-FR" sz="3400" b="0" dirty="0">
                <a:solidFill>
                  <a:prstClr val="black"/>
                </a:solidFill>
                <a:latin typeface="The Hand"/>
              </a:rPr>
              <a:t>Environnement technique</a:t>
            </a:r>
            <a:endParaRPr lang="fr-FR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  <a:ea typeface="+mn-ea"/>
                <a:cs typeface="+mn-cs"/>
              </a:rPr>
              <a:t>    Organisation et équipe</a:t>
            </a:r>
            <a:endParaRPr lang="fr-FR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  <a:ea typeface="+mn-ea"/>
                <a:cs typeface="+mn-cs"/>
              </a:rPr>
              <a:t>La solution, </a:t>
            </a:r>
            <a:r>
              <a:rPr kumimoji="0" lang="fr-FR" sz="3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  <a:ea typeface="+mn-ea"/>
                <a:cs typeface="+mn-cs"/>
              </a:rPr>
              <a:t>Orison</a:t>
            </a:r>
            <a:endParaRPr lang="fr-FR" sz="3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</a:endParaRPr>
          </a:p>
          <a:p>
            <a:pPr lvl="0">
              <a:defRPr/>
            </a:pPr>
            <a:r>
              <a:rPr kumimoji="0" lang="fr-FR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  <a:ea typeface="+mn-ea"/>
                <a:cs typeface="+mn-cs"/>
              </a:rPr>
              <a:t>    </a:t>
            </a:r>
            <a:r>
              <a:rPr lang="fr-FR" sz="3400" dirty="0">
                <a:solidFill>
                  <a:prstClr val="black"/>
                </a:solidFill>
              </a:rPr>
              <a:t>Les "</a:t>
            </a:r>
            <a:r>
              <a:rPr kumimoji="0" lang="fr-FR" sz="3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  <a:ea typeface="+mn-ea"/>
                <a:cs typeface="+mn-cs"/>
              </a:rPr>
              <a:t>Templates</a:t>
            </a:r>
            <a:r>
              <a:rPr lang="fr-FR" sz="3400" dirty="0">
                <a:solidFill>
                  <a:prstClr val="black"/>
                </a:solidFill>
              </a:rPr>
              <a:t>"</a:t>
            </a:r>
            <a:r>
              <a:rPr lang="fr-FR" sz="3400" dirty="0">
                <a:solidFill>
                  <a:prstClr val="black"/>
                </a:solidFill>
                <a:latin typeface="The Hand"/>
              </a:rPr>
              <a:t> </a:t>
            </a:r>
          </a:p>
          <a:p>
            <a:pPr lvl="0">
              <a:defRPr/>
            </a:pPr>
            <a:r>
              <a:rPr lang="fr-FR" sz="3400" dirty="0">
                <a:solidFill>
                  <a:prstClr val="black"/>
                </a:solidFill>
                <a:latin typeface="The Hand"/>
              </a:rPr>
              <a:t>    </a:t>
            </a:r>
            <a:r>
              <a:rPr lang="fr-FR" sz="3400" dirty="0">
                <a:solidFill>
                  <a:prstClr val="black"/>
                </a:solidFill>
              </a:rPr>
              <a:t>Les "</a:t>
            </a:r>
            <a:r>
              <a:rPr lang="fr-FR" sz="3400" dirty="0">
                <a:solidFill>
                  <a:prstClr val="black"/>
                </a:solidFill>
                <a:latin typeface="The Hand"/>
              </a:rPr>
              <a:t>Composants</a:t>
            </a:r>
            <a:r>
              <a:rPr lang="fr-FR" sz="3400" dirty="0">
                <a:solidFill>
                  <a:prstClr val="black"/>
                </a:solidFill>
              </a:rPr>
              <a:t>"</a:t>
            </a:r>
            <a:endParaRPr lang="fr-FR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  <a:ea typeface="+mn-ea"/>
                <a:cs typeface="+mn-cs"/>
              </a:rPr>
              <a:t>    Leur intégration "Cube"</a:t>
            </a:r>
            <a:endParaRPr lang="fr-FR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  <a:ea typeface="+mn-ea"/>
                <a:cs typeface="+mn-cs"/>
              </a:rPr>
              <a:t>    Mes autres missions</a:t>
            </a:r>
            <a:endParaRPr lang="fr-FR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  <a:ea typeface="+mn-ea"/>
                <a:cs typeface="+mn-cs"/>
              </a:rPr>
              <a:t>Conclusion</a:t>
            </a:r>
            <a:endParaRPr lang="fr-FR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</a:endParaRPr>
          </a:p>
        </p:txBody>
      </p:sp>
    </p:spTree>
    <p:extLst>
      <p:ext uri="{BB962C8B-B14F-4D97-AF65-F5344CB8AC3E}">
        <p14:creationId xmlns:p14="http://schemas.microsoft.com/office/powerpoint/2010/main" val="521866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051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053" name="Rectangle 2052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Excel #1 Cleaning an Ugly Spreadsheet">
            <a:extLst>
              <a:ext uri="{FF2B5EF4-FFF2-40B4-BE49-F238E27FC236}">
                <a16:creationId xmlns:a16="http://schemas.microsoft.com/office/drawing/2014/main" id="{06A87EA5-6AB4-077B-D9A7-693FEA5BA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"/>
          <a:stretch>
            <a:fillRect/>
          </a:stretch>
        </p:blipFill>
        <p:spPr bwMode="auto">
          <a:xfrm>
            <a:off x="2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/>
          <p:cNvSpPr>
            <a:spLocks noGrp="1"/>
          </p:cNvSpPr>
          <p:nvPr>
            <p:ph type="ctrTitle" idx="4294967295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9600" b="1" dirty="0">
                <a:latin typeface="+mn-lt"/>
              </a:rPr>
              <a:t>Introduction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4294967295"/>
          </p:nvPr>
        </p:nvSpPr>
        <p:spPr>
          <a:xfrm>
            <a:off x="1527048" y="4599432"/>
            <a:ext cx="9144000" cy="15361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5400" dirty="0"/>
              <a:t>Le </a:t>
            </a:r>
            <a:r>
              <a:rPr lang="en-US" sz="5400" err="1"/>
              <a:t>problème</a:t>
            </a:r>
            <a:r>
              <a:rPr lang="en-US" sz="5400" dirty="0"/>
              <a:t> des </a:t>
            </a:r>
            <a:r>
              <a:rPr lang="en-US" sz="5400" err="1"/>
              <a:t>tableurs</a:t>
            </a:r>
            <a:endParaRPr lang="en-US" sz="5400" noProof="1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0637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 idx="4294967295"/>
          </p:nvPr>
        </p:nvSpPr>
        <p:spPr>
          <a:xfrm>
            <a:off x="0" y="3577456"/>
            <a:ext cx="12192000" cy="1687814"/>
          </a:xfr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de-DE" sz="8200" b="1" dirty="0">
                <a:latin typeface="+mn-lt"/>
              </a:rPr>
              <a:t>Aide à la décision financière sur mesure </a:t>
            </a:r>
          </a:p>
        </p:txBody>
      </p:sp>
      <p:sp>
        <p:nvSpPr>
          <p:cNvPr id="55" name="Rectangle 6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27432"/>
          </a:xfrm>
          <a:custGeom>
            <a:avLst/>
            <a:gdLst>
              <a:gd name="connsiteX0" fmla="*/ 0 w 4572000"/>
              <a:gd name="connsiteY0" fmla="*/ 0 h 27432"/>
              <a:gd name="connsiteX1" fmla="*/ 607423 w 4572000"/>
              <a:gd name="connsiteY1" fmla="*/ 0 h 27432"/>
              <a:gd name="connsiteX2" fmla="*/ 1123406 w 4572000"/>
              <a:gd name="connsiteY2" fmla="*/ 0 h 27432"/>
              <a:gd name="connsiteX3" fmla="*/ 1685109 w 4572000"/>
              <a:gd name="connsiteY3" fmla="*/ 0 h 27432"/>
              <a:gd name="connsiteX4" fmla="*/ 2383971 w 4572000"/>
              <a:gd name="connsiteY4" fmla="*/ 0 h 27432"/>
              <a:gd name="connsiteX5" fmla="*/ 2991394 w 4572000"/>
              <a:gd name="connsiteY5" fmla="*/ 0 h 27432"/>
              <a:gd name="connsiteX6" fmla="*/ 3553097 w 4572000"/>
              <a:gd name="connsiteY6" fmla="*/ 0 h 27432"/>
              <a:gd name="connsiteX7" fmla="*/ 4572000 w 4572000"/>
              <a:gd name="connsiteY7" fmla="*/ 0 h 27432"/>
              <a:gd name="connsiteX8" fmla="*/ 4572000 w 4572000"/>
              <a:gd name="connsiteY8" fmla="*/ 27432 h 27432"/>
              <a:gd name="connsiteX9" fmla="*/ 3918857 w 4572000"/>
              <a:gd name="connsiteY9" fmla="*/ 27432 h 27432"/>
              <a:gd name="connsiteX10" fmla="*/ 3357154 w 4572000"/>
              <a:gd name="connsiteY10" fmla="*/ 27432 h 27432"/>
              <a:gd name="connsiteX11" fmla="*/ 2612571 w 4572000"/>
              <a:gd name="connsiteY11" fmla="*/ 27432 h 27432"/>
              <a:gd name="connsiteX12" fmla="*/ 2005149 w 4572000"/>
              <a:gd name="connsiteY12" fmla="*/ 27432 h 27432"/>
              <a:gd name="connsiteX13" fmla="*/ 1489166 w 4572000"/>
              <a:gd name="connsiteY13" fmla="*/ 27432 h 27432"/>
              <a:gd name="connsiteX14" fmla="*/ 790303 w 4572000"/>
              <a:gd name="connsiteY14" fmla="*/ 27432 h 27432"/>
              <a:gd name="connsiteX15" fmla="*/ 0 w 4572000"/>
              <a:gd name="connsiteY15" fmla="*/ 27432 h 27432"/>
              <a:gd name="connsiteX16" fmla="*/ 0 w 457200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27432" fill="none" extrusionOk="0">
                <a:moveTo>
                  <a:pt x="0" y="0"/>
                </a:moveTo>
                <a:cubicBezTo>
                  <a:pt x="150397" y="-23421"/>
                  <a:pt x="474161" y="9174"/>
                  <a:pt x="607423" y="0"/>
                </a:cubicBezTo>
                <a:cubicBezTo>
                  <a:pt x="740685" y="-9174"/>
                  <a:pt x="868821" y="-4258"/>
                  <a:pt x="1123406" y="0"/>
                </a:cubicBezTo>
                <a:cubicBezTo>
                  <a:pt x="1377991" y="4258"/>
                  <a:pt x="1567664" y="-12410"/>
                  <a:pt x="1685109" y="0"/>
                </a:cubicBezTo>
                <a:cubicBezTo>
                  <a:pt x="1802554" y="12410"/>
                  <a:pt x="2193086" y="-14353"/>
                  <a:pt x="2383971" y="0"/>
                </a:cubicBezTo>
                <a:cubicBezTo>
                  <a:pt x="2574856" y="14353"/>
                  <a:pt x="2697477" y="-26142"/>
                  <a:pt x="2991394" y="0"/>
                </a:cubicBezTo>
                <a:cubicBezTo>
                  <a:pt x="3285311" y="26142"/>
                  <a:pt x="3423667" y="26544"/>
                  <a:pt x="3553097" y="0"/>
                </a:cubicBezTo>
                <a:cubicBezTo>
                  <a:pt x="3682527" y="-26544"/>
                  <a:pt x="4344147" y="50350"/>
                  <a:pt x="4572000" y="0"/>
                </a:cubicBezTo>
                <a:cubicBezTo>
                  <a:pt x="4571027" y="8304"/>
                  <a:pt x="4571522" y="21512"/>
                  <a:pt x="4572000" y="27432"/>
                </a:cubicBezTo>
                <a:cubicBezTo>
                  <a:pt x="4438349" y="5490"/>
                  <a:pt x="4090129" y="31231"/>
                  <a:pt x="3918857" y="27432"/>
                </a:cubicBezTo>
                <a:cubicBezTo>
                  <a:pt x="3747585" y="23633"/>
                  <a:pt x="3498826" y="6883"/>
                  <a:pt x="3357154" y="27432"/>
                </a:cubicBezTo>
                <a:cubicBezTo>
                  <a:pt x="3215482" y="47981"/>
                  <a:pt x="2784289" y="56849"/>
                  <a:pt x="2612571" y="27432"/>
                </a:cubicBezTo>
                <a:cubicBezTo>
                  <a:pt x="2440853" y="-1985"/>
                  <a:pt x="2261292" y="25951"/>
                  <a:pt x="2005149" y="27432"/>
                </a:cubicBezTo>
                <a:cubicBezTo>
                  <a:pt x="1749006" y="28913"/>
                  <a:pt x="1700078" y="34342"/>
                  <a:pt x="1489166" y="27432"/>
                </a:cubicBezTo>
                <a:cubicBezTo>
                  <a:pt x="1278254" y="20522"/>
                  <a:pt x="1077188" y="56916"/>
                  <a:pt x="790303" y="27432"/>
                </a:cubicBezTo>
                <a:cubicBezTo>
                  <a:pt x="503418" y="-2052"/>
                  <a:pt x="359168" y="57044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572000" h="27432" stroke="0" extrusionOk="0">
                <a:moveTo>
                  <a:pt x="0" y="0"/>
                </a:moveTo>
                <a:cubicBezTo>
                  <a:pt x="155698" y="6780"/>
                  <a:pt x="465972" y="13197"/>
                  <a:pt x="607423" y="0"/>
                </a:cubicBezTo>
                <a:cubicBezTo>
                  <a:pt x="748874" y="-13197"/>
                  <a:pt x="1014133" y="22994"/>
                  <a:pt x="1123406" y="0"/>
                </a:cubicBezTo>
                <a:cubicBezTo>
                  <a:pt x="1232679" y="-22994"/>
                  <a:pt x="1639431" y="-2997"/>
                  <a:pt x="1867989" y="0"/>
                </a:cubicBezTo>
                <a:cubicBezTo>
                  <a:pt x="2096547" y="2997"/>
                  <a:pt x="2265668" y="29557"/>
                  <a:pt x="2475411" y="0"/>
                </a:cubicBezTo>
                <a:cubicBezTo>
                  <a:pt x="2685154" y="-29557"/>
                  <a:pt x="2951491" y="73"/>
                  <a:pt x="3082834" y="0"/>
                </a:cubicBezTo>
                <a:cubicBezTo>
                  <a:pt x="3214177" y="-73"/>
                  <a:pt x="3641000" y="-33478"/>
                  <a:pt x="3827417" y="0"/>
                </a:cubicBezTo>
                <a:cubicBezTo>
                  <a:pt x="4013834" y="33478"/>
                  <a:pt x="4345917" y="14255"/>
                  <a:pt x="4572000" y="0"/>
                </a:cubicBezTo>
                <a:cubicBezTo>
                  <a:pt x="4572485" y="9333"/>
                  <a:pt x="4573278" y="19699"/>
                  <a:pt x="4572000" y="27432"/>
                </a:cubicBezTo>
                <a:cubicBezTo>
                  <a:pt x="4318030" y="43025"/>
                  <a:pt x="4161104" y="34314"/>
                  <a:pt x="4010297" y="27432"/>
                </a:cubicBezTo>
                <a:cubicBezTo>
                  <a:pt x="3859490" y="20550"/>
                  <a:pt x="3592529" y="6613"/>
                  <a:pt x="3357154" y="27432"/>
                </a:cubicBezTo>
                <a:cubicBezTo>
                  <a:pt x="3121779" y="48251"/>
                  <a:pt x="2884285" y="3780"/>
                  <a:pt x="2704011" y="27432"/>
                </a:cubicBezTo>
                <a:cubicBezTo>
                  <a:pt x="2523737" y="51084"/>
                  <a:pt x="2295944" y="32081"/>
                  <a:pt x="2096589" y="27432"/>
                </a:cubicBezTo>
                <a:cubicBezTo>
                  <a:pt x="1897234" y="22783"/>
                  <a:pt x="1623782" y="52518"/>
                  <a:pt x="1352006" y="27432"/>
                </a:cubicBezTo>
                <a:cubicBezTo>
                  <a:pt x="1080230" y="2346"/>
                  <a:pt x="869959" y="12864"/>
                  <a:pt x="607423" y="27432"/>
                </a:cubicBezTo>
                <a:cubicBezTo>
                  <a:pt x="344887" y="42000"/>
                  <a:pt x="188100" y="40051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0081FF"/>
          </a:solidFill>
          <a:ln w="38100" cap="rnd">
            <a:solidFill>
              <a:srgbClr val="0081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  <p:sp>
        <p:nvSpPr>
          <p:cNvPr id="57" name="Date Placeholder 26">
            <a:extLst>
              <a:ext uri="{FF2B5EF4-FFF2-40B4-BE49-F238E27FC236}">
                <a16:creationId xmlns:a16="http://schemas.microsoft.com/office/drawing/2014/main" id="{F28B82B1-E269-4325-A665-6CFE5DEE5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  <p:sp>
        <p:nvSpPr>
          <p:cNvPr id="59" name="Footer Placeholder 27">
            <a:extLst>
              <a:ext uri="{FF2B5EF4-FFF2-40B4-BE49-F238E27FC236}">
                <a16:creationId xmlns:a16="http://schemas.microsoft.com/office/drawing/2014/main" id="{7C700527-76FD-4DF4-A597-6F5E089CA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  <p:sp>
        <p:nvSpPr>
          <p:cNvPr id="61" name="Slide Number Placeholder 28">
            <a:extLst>
              <a:ext uri="{FF2B5EF4-FFF2-40B4-BE49-F238E27FC236}">
                <a16:creationId xmlns:a16="http://schemas.microsoft.com/office/drawing/2014/main" id="{B5EA49A9-01EB-4D60-A392-7DC9B625D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  <p:pic>
        <p:nvPicPr>
          <p:cNvPr id="3074" name="Picture 2" descr="ORISON / NEW LOG UP – ADN Booster">
            <a:extLst>
              <a:ext uri="{FF2B5EF4-FFF2-40B4-BE49-F238E27FC236}">
                <a16:creationId xmlns:a16="http://schemas.microsoft.com/office/drawing/2014/main" id="{5196EE82-4479-548F-7AC0-115C07513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724" y="582805"/>
            <a:ext cx="6118551" cy="2557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2110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16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18" name="Rectangle 117">
            <a:extLst>
              <a:ext uri="{FF2B5EF4-FFF2-40B4-BE49-F238E27FC236}">
                <a16:creationId xmlns:a16="http://schemas.microsoft.com/office/drawing/2014/main" id="{E479375D-8CD4-4B7B-9C44-C0DCDCB1E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BF6884D-032A-4A2D-B38D-D9CD11E1C462}"/>
              </a:ext>
            </a:extLst>
          </p:cNvPr>
          <p:cNvSpPr txBox="1"/>
          <p:nvPr/>
        </p:nvSpPr>
        <p:spPr>
          <a:xfrm>
            <a:off x="612648" y="432877"/>
            <a:ext cx="4683319" cy="197805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fontAlgn="auto"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82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Son histoire</a:t>
            </a:r>
            <a:endParaRPr lang="en-US" sz="8200" b="1" i="0" u="none" strike="noStrike" cap="none" spc="0" normalizeH="0" baseline="0" noProof="0" dirty="0">
              <a:ln>
                <a:noFill/>
              </a:ln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119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648" y="2576526"/>
            <a:ext cx="3776100" cy="27432"/>
          </a:xfrm>
          <a:custGeom>
            <a:avLst/>
            <a:gdLst>
              <a:gd name="connsiteX0" fmla="*/ 0 w 3776100"/>
              <a:gd name="connsiteY0" fmla="*/ 0 h 27432"/>
              <a:gd name="connsiteX1" fmla="*/ 704872 w 3776100"/>
              <a:gd name="connsiteY1" fmla="*/ 0 h 27432"/>
              <a:gd name="connsiteX2" fmla="*/ 1371983 w 3776100"/>
              <a:gd name="connsiteY2" fmla="*/ 0 h 27432"/>
              <a:gd name="connsiteX3" fmla="*/ 2039094 w 3776100"/>
              <a:gd name="connsiteY3" fmla="*/ 0 h 27432"/>
              <a:gd name="connsiteX4" fmla="*/ 2555161 w 3776100"/>
              <a:gd name="connsiteY4" fmla="*/ 0 h 27432"/>
              <a:gd name="connsiteX5" fmla="*/ 3108989 w 3776100"/>
              <a:gd name="connsiteY5" fmla="*/ 0 h 27432"/>
              <a:gd name="connsiteX6" fmla="*/ 3776100 w 3776100"/>
              <a:gd name="connsiteY6" fmla="*/ 0 h 27432"/>
              <a:gd name="connsiteX7" fmla="*/ 3776100 w 3776100"/>
              <a:gd name="connsiteY7" fmla="*/ 27432 h 27432"/>
              <a:gd name="connsiteX8" fmla="*/ 3146750 w 3776100"/>
              <a:gd name="connsiteY8" fmla="*/ 27432 h 27432"/>
              <a:gd name="connsiteX9" fmla="*/ 2630683 w 3776100"/>
              <a:gd name="connsiteY9" fmla="*/ 27432 h 27432"/>
              <a:gd name="connsiteX10" fmla="*/ 2114616 w 3776100"/>
              <a:gd name="connsiteY10" fmla="*/ 27432 h 27432"/>
              <a:gd name="connsiteX11" fmla="*/ 1447505 w 3776100"/>
              <a:gd name="connsiteY11" fmla="*/ 27432 h 27432"/>
              <a:gd name="connsiteX12" fmla="*/ 893677 w 3776100"/>
              <a:gd name="connsiteY12" fmla="*/ 27432 h 27432"/>
              <a:gd name="connsiteX13" fmla="*/ 0 w 3776100"/>
              <a:gd name="connsiteY13" fmla="*/ 27432 h 27432"/>
              <a:gd name="connsiteX14" fmla="*/ 0 w 3776100"/>
              <a:gd name="connsiteY14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776100" h="27432" fill="none" extrusionOk="0">
                <a:moveTo>
                  <a:pt x="0" y="0"/>
                </a:moveTo>
                <a:cubicBezTo>
                  <a:pt x="165025" y="16710"/>
                  <a:pt x="477610" y="11021"/>
                  <a:pt x="704872" y="0"/>
                </a:cubicBezTo>
                <a:cubicBezTo>
                  <a:pt x="932134" y="-11021"/>
                  <a:pt x="1211227" y="31434"/>
                  <a:pt x="1371983" y="0"/>
                </a:cubicBezTo>
                <a:cubicBezTo>
                  <a:pt x="1532739" y="-31434"/>
                  <a:pt x="1888636" y="32404"/>
                  <a:pt x="2039094" y="0"/>
                </a:cubicBezTo>
                <a:cubicBezTo>
                  <a:pt x="2189552" y="-32404"/>
                  <a:pt x="2404310" y="7083"/>
                  <a:pt x="2555161" y="0"/>
                </a:cubicBezTo>
                <a:cubicBezTo>
                  <a:pt x="2706012" y="-7083"/>
                  <a:pt x="2970995" y="21467"/>
                  <a:pt x="3108989" y="0"/>
                </a:cubicBezTo>
                <a:cubicBezTo>
                  <a:pt x="3246983" y="-21467"/>
                  <a:pt x="3512891" y="18414"/>
                  <a:pt x="3776100" y="0"/>
                </a:cubicBezTo>
                <a:cubicBezTo>
                  <a:pt x="3775143" y="8431"/>
                  <a:pt x="3775751" y="14612"/>
                  <a:pt x="3776100" y="27432"/>
                </a:cubicBezTo>
                <a:cubicBezTo>
                  <a:pt x="3578604" y="18286"/>
                  <a:pt x="3430587" y="30543"/>
                  <a:pt x="3146750" y="27432"/>
                </a:cubicBezTo>
                <a:cubicBezTo>
                  <a:pt x="2862913" y="24322"/>
                  <a:pt x="2827215" y="48777"/>
                  <a:pt x="2630683" y="27432"/>
                </a:cubicBezTo>
                <a:cubicBezTo>
                  <a:pt x="2434151" y="6087"/>
                  <a:pt x="2291940" y="37245"/>
                  <a:pt x="2114616" y="27432"/>
                </a:cubicBezTo>
                <a:cubicBezTo>
                  <a:pt x="1937292" y="17619"/>
                  <a:pt x="1656845" y="-4340"/>
                  <a:pt x="1447505" y="27432"/>
                </a:cubicBezTo>
                <a:cubicBezTo>
                  <a:pt x="1238165" y="59204"/>
                  <a:pt x="1030350" y="26114"/>
                  <a:pt x="893677" y="27432"/>
                </a:cubicBezTo>
                <a:cubicBezTo>
                  <a:pt x="757004" y="28750"/>
                  <a:pt x="212407" y="-10735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776100" h="27432" stroke="0" extrusionOk="0">
                <a:moveTo>
                  <a:pt x="0" y="0"/>
                </a:moveTo>
                <a:cubicBezTo>
                  <a:pt x="198732" y="-14575"/>
                  <a:pt x="400138" y="19874"/>
                  <a:pt x="591589" y="0"/>
                </a:cubicBezTo>
                <a:cubicBezTo>
                  <a:pt x="783040" y="-19874"/>
                  <a:pt x="941744" y="14362"/>
                  <a:pt x="1107656" y="0"/>
                </a:cubicBezTo>
                <a:cubicBezTo>
                  <a:pt x="1273568" y="-14362"/>
                  <a:pt x="1609193" y="-20323"/>
                  <a:pt x="1812528" y="0"/>
                </a:cubicBezTo>
                <a:cubicBezTo>
                  <a:pt x="2015863" y="20323"/>
                  <a:pt x="2174208" y="11632"/>
                  <a:pt x="2404117" y="0"/>
                </a:cubicBezTo>
                <a:cubicBezTo>
                  <a:pt x="2634026" y="-11632"/>
                  <a:pt x="2870746" y="-12989"/>
                  <a:pt x="2995706" y="0"/>
                </a:cubicBezTo>
                <a:cubicBezTo>
                  <a:pt x="3120666" y="12989"/>
                  <a:pt x="3546384" y="24159"/>
                  <a:pt x="3776100" y="0"/>
                </a:cubicBezTo>
                <a:cubicBezTo>
                  <a:pt x="3774745" y="9524"/>
                  <a:pt x="3774898" y="13975"/>
                  <a:pt x="3776100" y="27432"/>
                </a:cubicBezTo>
                <a:cubicBezTo>
                  <a:pt x="3463671" y="43660"/>
                  <a:pt x="3337372" y="14126"/>
                  <a:pt x="3146750" y="27432"/>
                </a:cubicBezTo>
                <a:cubicBezTo>
                  <a:pt x="2956128" y="40739"/>
                  <a:pt x="2766562" y="1782"/>
                  <a:pt x="2630683" y="27432"/>
                </a:cubicBezTo>
                <a:cubicBezTo>
                  <a:pt x="2494804" y="53082"/>
                  <a:pt x="2190923" y="18892"/>
                  <a:pt x="2001333" y="27432"/>
                </a:cubicBezTo>
                <a:cubicBezTo>
                  <a:pt x="1811743" y="35973"/>
                  <a:pt x="1591614" y="51701"/>
                  <a:pt x="1371983" y="27432"/>
                </a:cubicBezTo>
                <a:cubicBezTo>
                  <a:pt x="1152352" y="3164"/>
                  <a:pt x="916285" y="53283"/>
                  <a:pt x="780394" y="27432"/>
                </a:cubicBezTo>
                <a:cubicBezTo>
                  <a:pt x="644503" y="1581"/>
                  <a:pt x="293502" y="47840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rgbClr val="C7CB5F"/>
          </a:solidFill>
          <a:ln w="38100" cap="rnd">
            <a:solidFill>
              <a:srgbClr val="C7CB5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694EA0-C4ED-49E9-8BD5-20EE8C0CAEB7}"/>
              </a:ext>
            </a:extLst>
          </p:cNvPr>
          <p:cNvSpPr txBox="1"/>
          <p:nvPr/>
        </p:nvSpPr>
        <p:spPr>
          <a:xfrm>
            <a:off x="612648" y="2769556"/>
            <a:ext cx="4694202" cy="3424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228600" fontAlgn="auto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Créée</a:t>
            </a:r>
            <a:r>
              <a:rPr kumimoji="0" lang="en-US" sz="36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36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en</a:t>
            </a:r>
            <a:r>
              <a:rPr kumimoji="0" lang="en-US" sz="36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36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janvier</a:t>
            </a:r>
            <a:r>
              <a:rPr kumimoji="0" lang="en-US" sz="36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2014</a:t>
            </a:r>
          </a:p>
          <a:p>
            <a:pPr marL="0" marR="0" lvl="0" indent="-228600" fontAlgn="auto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Par Lionel YAVORSKI</a:t>
            </a:r>
          </a:p>
          <a:p>
            <a:pPr marL="0" marR="0" lvl="0" indent="-228600" fontAlgn="auto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À Bruz</a:t>
            </a:r>
          </a:p>
          <a:p>
            <a:pPr marL="0" marR="0" lvl="0" indent="-228600" fontAlgn="auto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600" dirty="0"/>
              <a:t>12</a:t>
            </a:r>
            <a:r>
              <a:rPr kumimoji="0" lang="en-US" sz="36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3600" b="0" i="0" u="none" strike="noStrike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employés</a:t>
            </a:r>
            <a:endParaRPr kumimoji="0" lang="en-US" sz="3600" b="0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3" name="Picture 2" descr="A spiral staircase outside of a building&#10;&#10;AI-generated content may be incorrect.">
            <a:extLst>
              <a:ext uri="{FF2B5EF4-FFF2-40B4-BE49-F238E27FC236}">
                <a16:creationId xmlns:a16="http://schemas.microsoft.com/office/drawing/2014/main" id="{35C0C04A-9755-59A1-6111-C365DC2BA7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78" r="9092" b="-1"/>
          <a:stretch>
            <a:fillRect/>
          </a:stretch>
        </p:blipFill>
        <p:spPr bwMode="auto">
          <a:xfrm>
            <a:off x="5881587" y="1"/>
            <a:ext cx="2480911" cy="2499926"/>
          </a:xfrm>
          <a:custGeom>
            <a:avLst/>
            <a:gdLst/>
            <a:ahLst/>
            <a:cxnLst/>
            <a:rect l="l" t="t" r="r" b="b"/>
            <a:pathLst>
              <a:path w="2480911" h="2499926">
                <a:moveTo>
                  <a:pt x="19981" y="0"/>
                </a:moveTo>
                <a:lnTo>
                  <a:pt x="2459298" y="0"/>
                </a:lnTo>
                <a:lnTo>
                  <a:pt x="2461697" y="36771"/>
                </a:lnTo>
                <a:cubicBezTo>
                  <a:pt x="2479788" y="149359"/>
                  <a:pt x="2485129" y="263433"/>
                  <a:pt x="2477615" y="377067"/>
                </a:cubicBezTo>
                <a:cubicBezTo>
                  <a:pt x="2467228" y="531964"/>
                  <a:pt x="2453063" y="686610"/>
                  <a:pt x="2448746" y="841886"/>
                </a:cubicBezTo>
                <a:cubicBezTo>
                  <a:pt x="2444698" y="993129"/>
                  <a:pt x="2457785" y="1144371"/>
                  <a:pt x="2467767" y="1294857"/>
                </a:cubicBezTo>
                <a:cubicBezTo>
                  <a:pt x="2482337" y="1514412"/>
                  <a:pt x="2471950" y="1734090"/>
                  <a:pt x="2462911" y="1953771"/>
                </a:cubicBezTo>
                <a:cubicBezTo>
                  <a:pt x="2456031" y="2120043"/>
                  <a:pt x="2468880" y="2286316"/>
                  <a:pt x="2468394" y="2452588"/>
                </a:cubicBezTo>
                <a:lnTo>
                  <a:pt x="2466641" y="2499926"/>
                </a:lnTo>
                <a:lnTo>
                  <a:pt x="2296739" y="2478362"/>
                </a:lnTo>
                <a:cubicBezTo>
                  <a:pt x="2238674" y="2473952"/>
                  <a:pt x="2180384" y="2473352"/>
                  <a:pt x="2121935" y="2479209"/>
                </a:cubicBezTo>
                <a:cubicBezTo>
                  <a:pt x="2041360" y="2487394"/>
                  <a:pt x="1960913" y="2492193"/>
                  <a:pt x="1879954" y="2491910"/>
                </a:cubicBezTo>
                <a:cubicBezTo>
                  <a:pt x="1693862" y="2491910"/>
                  <a:pt x="1507645" y="2490217"/>
                  <a:pt x="1321552" y="2493745"/>
                </a:cubicBezTo>
                <a:cubicBezTo>
                  <a:pt x="1155926" y="2496850"/>
                  <a:pt x="990939" y="2503623"/>
                  <a:pt x="825184" y="2486548"/>
                </a:cubicBezTo>
                <a:cubicBezTo>
                  <a:pt x="702850" y="2473988"/>
                  <a:pt x="580196" y="2469719"/>
                  <a:pt x="457447" y="2468960"/>
                </a:cubicBezTo>
                <a:cubicBezTo>
                  <a:pt x="334698" y="2468202"/>
                  <a:pt x="211852" y="2470954"/>
                  <a:pt x="89135" y="2472435"/>
                </a:cubicBezTo>
                <a:lnTo>
                  <a:pt x="18367" y="2476036"/>
                </a:lnTo>
                <a:lnTo>
                  <a:pt x="18390" y="2474698"/>
                </a:lnTo>
                <a:cubicBezTo>
                  <a:pt x="17282" y="2432885"/>
                  <a:pt x="16575" y="2391103"/>
                  <a:pt x="22999" y="2349513"/>
                </a:cubicBezTo>
                <a:cubicBezTo>
                  <a:pt x="32123" y="2282523"/>
                  <a:pt x="32469" y="2214639"/>
                  <a:pt x="24028" y="2147559"/>
                </a:cubicBezTo>
                <a:cubicBezTo>
                  <a:pt x="8841" y="2020748"/>
                  <a:pt x="9791" y="1892546"/>
                  <a:pt x="26854" y="1765977"/>
                </a:cubicBezTo>
                <a:cubicBezTo>
                  <a:pt x="37390" y="1692110"/>
                  <a:pt x="43429" y="1616075"/>
                  <a:pt x="24541" y="1543611"/>
                </a:cubicBezTo>
                <a:cubicBezTo>
                  <a:pt x="-19916" y="1373296"/>
                  <a:pt x="6039" y="1202726"/>
                  <a:pt x="24541" y="1033304"/>
                </a:cubicBezTo>
                <a:cubicBezTo>
                  <a:pt x="35784" y="942317"/>
                  <a:pt x="36042" y="850321"/>
                  <a:pt x="25313" y="759270"/>
                </a:cubicBezTo>
                <a:cubicBezTo>
                  <a:pt x="6271" y="624791"/>
                  <a:pt x="2596" y="488613"/>
                  <a:pt x="14391" y="353320"/>
                </a:cubicBezTo>
                <a:cubicBezTo>
                  <a:pt x="25055" y="242711"/>
                  <a:pt x="35592" y="131847"/>
                  <a:pt x="22742" y="20345"/>
                </a:cubicBezTo>
                <a:close/>
              </a:path>
            </a:pathLst>
          </a:custGeom>
          <a:noFill/>
        </p:spPr>
      </p:pic>
      <p:pic>
        <p:nvPicPr>
          <p:cNvPr id="4" name="Picture 3" descr="A room with a table and chairs&#10;&#10;AI-generated content may be incorrect.">
            <a:extLst>
              <a:ext uri="{FF2B5EF4-FFF2-40B4-BE49-F238E27FC236}">
                <a16:creationId xmlns:a16="http://schemas.microsoft.com/office/drawing/2014/main" id="{20EDCA3B-C6DA-7ADC-3379-518E3CD8C0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7914"/>
          <a:stretch>
            <a:fillRect/>
          </a:stretch>
        </p:blipFill>
        <p:spPr bwMode="auto">
          <a:xfrm>
            <a:off x="8551157" y="4"/>
            <a:ext cx="3640843" cy="2514491"/>
          </a:xfrm>
          <a:custGeom>
            <a:avLst/>
            <a:gdLst/>
            <a:ahLst/>
            <a:cxnLst/>
            <a:rect l="l" t="t" r="r" b="b"/>
            <a:pathLst>
              <a:path w="3640843" h="2514491">
                <a:moveTo>
                  <a:pt x="21507" y="0"/>
                </a:moveTo>
                <a:lnTo>
                  <a:pt x="3640843" y="0"/>
                </a:lnTo>
                <a:lnTo>
                  <a:pt x="3640843" y="2476851"/>
                </a:lnTo>
                <a:lnTo>
                  <a:pt x="3515365" y="2478367"/>
                </a:lnTo>
                <a:cubicBezTo>
                  <a:pt x="3466585" y="2480206"/>
                  <a:pt x="3417823" y="2483372"/>
                  <a:pt x="3369095" y="2488100"/>
                </a:cubicBezTo>
                <a:cubicBezTo>
                  <a:pt x="3189591" y="2503172"/>
                  <a:pt x="3009384" y="2505345"/>
                  <a:pt x="2829623" y="2494592"/>
                </a:cubicBezTo>
                <a:cubicBezTo>
                  <a:pt x="2667194" y="2487113"/>
                  <a:pt x="2505020" y="2468765"/>
                  <a:pt x="2342206" y="2484430"/>
                </a:cubicBezTo>
                <a:cubicBezTo>
                  <a:pt x="2286188" y="2489794"/>
                  <a:pt x="2231192" y="2502776"/>
                  <a:pt x="2174789" y="2505740"/>
                </a:cubicBezTo>
                <a:cubicBezTo>
                  <a:pt x="1910553" y="2519853"/>
                  <a:pt x="1647212" y="2498684"/>
                  <a:pt x="1383871" y="2481326"/>
                </a:cubicBezTo>
                <a:cubicBezTo>
                  <a:pt x="1287949" y="2474976"/>
                  <a:pt x="1192025" y="2467214"/>
                  <a:pt x="1096103" y="2484572"/>
                </a:cubicBezTo>
                <a:cubicBezTo>
                  <a:pt x="1015156" y="2498331"/>
                  <a:pt x="932995" y="2501168"/>
                  <a:pt x="851435" y="2493039"/>
                </a:cubicBezTo>
                <a:cubicBezTo>
                  <a:pt x="779199" y="2484910"/>
                  <a:pt x="706514" y="2482977"/>
                  <a:pt x="634010" y="2487253"/>
                </a:cubicBezTo>
                <a:cubicBezTo>
                  <a:pt x="437047" y="2504894"/>
                  <a:pt x="239957" y="2514631"/>
                  <a:pt x="42483" y="2514490"/>
                </a:cubicBezTo>
                <a:lnTo>
                  <a:pt x="11734" y="2513921"/>
                </a:lnTo>
                <a:lnTo>
                  <a:pt x="8379" y="2373974"/>
                </a:lnTo>
                <a:cubicBezTo>
                  <a:pt x="6625" y="2249072"/>
                  <a:pt x="-9563" y="2123667"/>
                  <a:pt x="8379" y="1999396"/>
                </a:cubicBezTo>
                <a:cubicBezTo>
                  <a:pt x="37721" y="1780120"/>
                  <a:pt x="41754" y="1558537"/>
                  <a:pt x="20386" y="1338466"/>
                </a:cubicBezTo>
                <a:cubicBezTo>
                  <a:pt x="-390" y="1090264"/>
                  <a:pt x="-1874" y="840990"/>
                  <a:pt x="15935" y="592587"/>
                </a:cubicBezTo>
                <a:cubicBezTo>
                  <a:pt x="28615" y="408575"/>
                  <a:pt x="38058" y="224185"/>
                  <a:pt x="26726" y="39543"/>
                </a:cubicBezTo>
                <a:close/>
              </a:path>
            </a:pathLst>
          </a:custGeom>
          <a:noFill/>
        </p:spPr>
      </p:pic>
      <p:pic>
        <p:nvPicPr>
          <p:cNvPr id="9" name="Picture 8" descr="A glass door with a table and chairs&#10;&#10;AI-generated content may be incorrect.">
            <a:extLst>
              <a:ext uri="{FF2B5EF4-FFF2-40B4-BE49-F238E27FC236}">
                <a16:creationId xmlns:a16="http://schemas.microsoft.com/office/drawing/2014/main" id="{2F5E67C2-100F-9BDF-810B-FBE24A9265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8" r="22308"/>
          <a:stretch>
            <a:fillRect/>
          </a:stretch>
        </p:blipFill>
        <p:spPr bwMode="auto">
          <a:xfrm>
            <a:off x="5875931" y="2710789"/>
            <a:ext cx="3424703" cy="4147210"/>
          </a:xfrm>
          <a:custGeom>
            <a:avLst/>
            <a:gdLst/>
            <a:ahLst/>
            <a:cxnLst/>
            <a:rect l="l" t="t" r="r" b="b"/>
            <a:pathLst>
              <a:path w="3424703" h="4147210">
                <a:moveTo>
                  <a:pt x="2770276" y="363"/>
                </a:moveTo>
                <a:cubicBezTo>
                  <a:pt x="2795855" y="1035"/>
                  <a:pt x="2821435" y="2685"/>
                  <a:pt x="2847014" y="5648"/>
                </a:cubicBezTo>
                <a:cubicBezTo>
                  <a:pt x="2934458" y="16486"/>
                  <a:pt x="3022617" y="18236"/>
                  <a:pt x="3110355" y="10870"/>
                </a:cubicBezTo>
                <a:lnTo>
                  <a:pt x="3392897" y="10870"/>
                </a:lnTo>
                <a:lnTo>
                  <a:pt x="3386194" y="142094"/>
                </a:lnTo>
                <a:cubicBezTo>
                  <a:pt x="3385022" y="239019"/>
                  <a:pt x="3388255" y="335913"/>
                  <a:pt x="3397778" y="432680"/>
                </a:cubicBezTo>
                <a:cubicBezTo>
                  <a:pt x="3412957" y="610911"/>
                  <a:pt x="3415146" y="789841"/>
                  <a:pt x="3404316" y="968327"/>
                </a:cubicBezTo>
                <a:cubicBezTo>
                  <a:pt x="3396784" y="1129605"/>
                  <a:pt x="3378305" y="1290629"/>
                  <a:pt x="3394081" y="1452289"/>
                </a:cubicBezTo>
                <a:cubicBezTo>
                  <a:pt x="3399484" y="1507910"/>
                  <a:pt x="3412558" y="1562516"/>
                  <a:pt x="3415543" y="1618519"/>
                </a:cubicBezTo>
                <a:cubicBezTo>
                  <a:pt x="3429757" y="1880882"/>
                  <a:pt x="3408437" y="2142356"/>
                  <a:pt x="3390955" y="2403830"/>
                </a:cubicBezTo>
                <a:cubicBezTo>
                  <a:pt x="3384560" y="2499073"/>
                  <a:pt x="3376742" y="2594316"/>
                  <a:pt x="3394224" y="2689559"/>
                </a:cubicBezTo>
                <a:cubicBezTo>
                  <a:pt x="3408082" y="2769932"/>
                  <a:pt x="3410939" y="2851510"/>
                  <a:pt x="3402752" y="2932492"/>
                </a:cubicBezTo>
                <a:cubicBezTo>
                  <a:pt x="3394565" y="3004216"/>
                  <a:pt x="3392618" y="3076386"/>
                  <a:pt x="3396925" y="3148376"/>
                </a:cubicBezTo>
                <a:cubicBezTo>
                  <a:pt x="3414691" y="3343943"/>
                  <a:pt x="3424498" y="3539635"/>
                  <a:pt x="3424356" y="3735709"/>
                </a:cubicBezTo>
                <a:cubicBezTo>
                  <a:pt x="3426089" y="3815954"/>
                  <a:pt x="3421343" y="3896213"/>
                  <a:pt x="3410143" y="3975849"/>
                </a:cubicBezTo>
                <a:lnTo>
                  <a:pt x="3388082" y="4147210"/>
                </a:lnTo>
                <a:lnTo>
                  <a:pt x="25116" y="4147210"/>
                </a:lnTo>
                <a:lnTo>
                  <a:pt x="26095" y="4083557"/>
                </a:lnTo>
                <a:cubicBezTo>
                  <a:pt x="28392" y="4055598"/>
                  <a:pt x="32549" y="4027790"/>
                  <a:pt x="38549" y="4000316"/>
                </a:cubicBezTo>
                <a:cubicBezTo>
                  <a:pt x="69270" y="3859101"/>
                  <a:pt x="66020" y="3712669"/>
                  <a:pt x="29041" y="3572934"/>
                </a:cubicBezTo>
                <a:cubicBezTo>
                  <a:pt x="-4495" y="3441275"/>
                  <a:pt x="-11433" y="3309233"/>
                  <a:pt x="21203" y="3176425"/>
                </a:cubicBezTo>
                <a:cubicBezTo>
                  <a:pt x="52015" y="3052995"/>
                  <a:pt x="50511" y="2923785"/>
                  <a:pt x="16835" y="2801095"/>
                </a:cubicBezTo>
                <a:cubicBezTo>
                  <a:pt x="9383" y="2769328"/>
                  <a:pt x="4821" y="2736962"/>
                  <a:pt x="3215" y="2704391"/>
                </a:cubicBezTo>
                <a:cubicBezTo>
                  <a:pt x="-6936" y="2585490"/>
                  <a:pt x="10153" y="2468247"/>
                  <a:pt x="24415" y="2350749"/>
                </a:cubicBezTo>
                <a:cubicBezTo>
                  <a:pt x="33924" y="2275861"/>
                  <a:pt x="48443" y="2200208"/>
                  <a:pt x="24415" y="2126086"/>
                </a:cubicBezTo>
                <a:cubicBezTo>
                  <a:pt x="7956" y="2074430"/>
                  <a:pt x="4295" y="2019598"/>
                  <a:pt x="13752" y="1966233"/>
                </a:cubicBezTo>
                <a:cubicBezTo>
                  <a:pt x="29697" y="1871520"/>
                  <a:pt x="33024" y="1775136"/>
                  <a:pt x="23645" y="1679568"/>
                </a:cubicBezTo>
                <a:cubicBezTo>
                  <a:pt x="17452" y="1616558"/>
                  <a:pt x="18403" y="1553050"/>
                  <a:pt x="26472" y="1490244"/>
                </a:cubicBezTo>
                <a:cubicBezTo>
                  <a:pt x="37135" y="1405788"/>
                  <a:pt x="53711" y="1319801"/>
                  <a:pt x="33538" y="1235091"/>
                </a:cubicBezTo>
                <a:cubicBezTo>
                  <a:pt x="1416" y="1100497"/>
                  <a:pt x="7841" y="966031"/>
                  <a:pt x="20690" y="830417"/>
                </a:cubicBezTo>
                <a:cubicBezTo>
                  <a:pt x="30326" y="729504"/>
                  <a:pt x="40991" y="627443"/>
                  <a:pt x="21717" y="525381"/>
                </a:cubicBezTo>
                <a:cubicBezTo>
                  <a:pt x="13430" y="478025"/>
                  <a:pt x="13430" y="429597"/>
                  <a:pt x="21717" y="382240"/>
                </a:cubicBezTo>
                <a:cubicBezTo>
                  <a:pt x="31739" y="318452"/>
                  <a:pt x="41248" y="255301"/>
                  <a:pt x="28398" y="190875"/>
                </a:cubicBezTo>
                <a:cubicBezTo>
                  <a:pt x="22745" y="162808"/>
                  <a:pt x="18505" y="134486"/>
                  <a:pt x="15549" y="106164"/>
                </a:cubicBezTo>
                <a:lnTo>
                  <a:pt x="13011" y="8941"/>
                </a:lnTo>
                <a:lnTo>
                  <a:pt x="105533" y="5454"/>
                </a:lnTo>
                <a:cubicBezTo>
                  <a:pt x="202128" y="1697"/>
                  <a:pt x="298722" y="-138"/>
                  <a:pt x="395349" y="6071"/>
                </a:cubicBezTo>
                <a:cubicBezTo>
                  <a:pt x="557907" y="16515"/>
                  <a:pt x="720336" y="25406"/>
                  <a:pt x="883022" y="16797"/>
                </a:cubicBezTo>
                <a:cubicBezTo>
                  <a:pt x="971367" y="10947"/>
                  <a:pt x="1059843" y="8651"/>
                  <a:pt x="1148278" y="9900"/>
                </a:cubicBezTo>
                <a:lnTo>
                  <a:pt x="1257461" y="15823"/>
                </a:lnTo>
                <a:lnTo>
                  <a:pt x="1335116" y="26426"/>
                </a:lnTo>
                <a:lnTo>
                  <a:pt x="1440012" y="30714"/>
                </a:lnTo>
                <a:lnTo>
                  <a:pt x="1441038" y="31333"/>
                </a:lnTo>
                <a:lnTo>
                  <a:pt x="1453828" y="31333"/>
                </a:lnTo>
                <a:lnTo>
                  <a:pt x="1454853" y="30816"/>
                </a:lnTo>
                <a:lnTo>
                  <a:pt x="1562238" y="26426"/>
                </a:lnTo>
                <a:lnTo>
                  <a:pt x="1586282" y="23143"/>
                </a:lnTo>
                <a:lnTo>
                  <a:pt x="1629431" y="20607"/>
                </a:lnTo>
                <a:cubicBezTo>
                  <a:pt x="1752571" y="5493"/>
                  <a:pt x="1876617" y="1527"/>
                  <a:pt x="2000333" y="8753"/>
                </a:cubicBezTo>
                <a:cubicBezTo>
                  <a:pt x="2180029" y="20043"/>
                  <a:pt x="2359981" y="26958"/>
                  <a:pt x="2540060" y="11576"/>
                </a:cubicBezTo>
                <a:cubicBezTo>
                  <a:pt x="2616799" y="5119"/>
                  <a:pt x="2693538" y="-1655"/>
                  <a:pt x="2770276" y="363"/>
                </a:cubicBezTo>
                <a:close/>
              </a:path>
            </a:pathLst>
          </a:custGeom>
          <a:noFill/>
        </p:spPr>
      </p:pic>
      <p:pic>
        <p:nvPicPr>
          <p:cNvPr id="8" name="Picture 7" descr="A long hallway with a desk and chairs&#10;&#10;AI-generated content may be incorrect.">
            <a:extLst>
              <a:ext uri="{FF2B5EF4-FFF2-40B4-BE49-F238E27FC236}">
                <a16:creationId xmlns:a16="http://schemas.microsoft.com/office/drawing/2014/main" id="{4DB6C202-4B17-2FE0-542C-36E67A4C06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90" r="26961" b="-1"/>
          <a:stretch>
            <a:fillRect/>
          </a:stretch>
        </p:blipFill>
        <p:spPr bwMode="auto">
          <a:xfrm>
            <a:off x="9493443" y="2706279"/>
            <a:ext cx="2698557" cy="4151723"/>
          </a:xfrm>
          <a:custGeom>
            <a:avLst/>
            <a:gdLst/>
            <a:ahLst/>
            <a:cxnLst/>
            <a:rect l="l" t="t" r="r" b="b"/>
            <a:pathLst>
              <a:path w="2698557" h="4151723">
                <a:moveTo>
                  <a:pt x="974331" y="1329"/>
                </a:moveTo>
                <a:cubicBezTo>
                  <a:pt x="1045351" y="-1238"/>
                  <a:pt x="1116481" y="-85"/>
                  <a:pt x="1187483" y="4798"/>
                </a:cubicBezTo>
                <a:cubicBezTo>
                  <a:pt x="1478833" y="19899"/>
                  <a:pt x="1770440" y="16089"/>
                  <a:pt x="2061918" y="27661"/>
                </a:cubicBezTo>
                <a:cubicBezTo>
                  <a:pt x="2158097" y="31612"/>
                  <a:pt x="2253764" y="10444"/>
                  <a:pt x="2349687" y="9315"/>
                </a:cubicBezTo>
                <a:cubicBezTo>
                  <a:pt x="2464603" y="7904"/>
                  <a:pt x="2579806" y="12949"/>
                  <a:pt x="2695186" y="16636"/>
                </a:cubicBezTo>
                <a:lnTo>
                  <a:pt x="2698557" y="16705"/>
                </a:lnTo>
                <a:lnTo>
                  <a:pt x="2698557" y="4151723"/>
                </a:lnTo>
                <a:lnTo>
                  <a:pt x="24619" y="4151723"/>
                </a:lnTo>
                <a:lnTo>
                  <a:pt x="23894" y="4050688"/>
                </a:lnTo>
                <a:cubicBezTo>
                  <a:pt x="22546" y="4006005"/>
                  <a:pt x="20077" y="3961312"/>
                  <a:pt x="16204" y="3916611"/>
                </a:cubicBezTo>
                <a:cubicBezTo>
                  <a:pt x="7533" y="3815018"/>
                  <a:pt x="-1705" y="3713426"/>
                  <a:pt x="10234" y="3611833"/>
                </a:cubicBezTo>
                <a:cubicBezTo>
                  <a:pt x="21149" y="3525009"/>
                  <a:pt x="22912" y="3437475"/>
                  <a:pt x="15493" y="3350359"/>
                </a:cubicBezTo>
                <a:cubicBezTo>
                  <a:pt x="8103" y="3255066"/>
                  <a:pt x="8103" y="3159415"/>
                  <a:pt x="15493" y="3064122"/>
                </a:cubicBezTo>
                <a:cubicBezTo>
                  <a:pt x="21178" y="2972815"/>
                  <a:pt x="30701" y="2881255"/>
                  <a:pt x="20468" y="2790203"/>
                </a:cubicBezTo>
                <a:cubicBezTo>
                  <a:pt x="6254" y="2662197"/>
                  <a:pt x="10945" y="2534571"/>
                  <a:pt x="19615" y="2406818"/>
                </a:cubicBezTo>
                <a:cubicBezTo>
                  <a:pt x="26722" y="2301289"/>
                  <a:pt x="37098" y="2195378"/>
                  <a:pt x="20325" y="2090357"/>
                </a:cubicBezTo>
                <a:cubicBezTo>
                  <a:pt x="185" y="1950236"/>
                  <a:pt x="-5003" y="1808729"/>
                  <a:pt x="4832" y="1667732"/>
                </a:cubicBezTo>
                <a:cubicBezTo>
                  <a:pt x="20041" y="1378447"/>
                  <a:pt x="16204" y="1088908"/>
                  <a:pt x="27859" y="799496"/>
                </a:cubicBezTo>
                <a:cubicBezTo>
                  <a:pt x="31838" y="703999"/>
                  <a:pt x="10519" y="609010"/>
                  <a:pt x="9382" y="513767"/>
                </a:cubicBezTo>
                <a:cubicBezTo>
                  <a:pt x="7961" y="399666"/>
                  <a:pt x="13042" y="285279"/>
                  <a:pt x="16755" y="170718"/>
                </a:cubicBezTo>
                <a:lnTo>
                  <a:pt x="19849" y="21255"/>
                </a:lnTo>
                <a:lnTo>
                  <a:pt x="56998" y="20323"/>
                </a:lnTo>
                <a:cubicBezTo>
                  <a:pt x="185918" y="6210"/>
                  <a:pt x="314455" y="10867"/>
                  <a:pt x="443120" y="19476"/>
                </a:cubicBezTo>
                <a:cubicBezTo>
                  <a:pt x="549403" y="26532"/>
                  <a:pt x="656070" y="36835"/>
                  <a:pt x="761841" y="20181"/>
                </a:cubicBezTo>
                <a:cubicBezTo>
                  <a:pt x="832402" y="10183"/>
                  <a:pt x="903311" y="3895"/>
                  <a:pt x="974331" y="1329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5951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BF6884D-032A-4A2D-B38D-D9CD11E1C462}"/>
              </a:ext>
            </a:extLst>
          </p:cNvPr>
          <p:cNvSpPr txBox="1"/>
          <p:nvPr/>
        </p:nvSpPr>
        <p:spPr>
          <a:xfrm>
            <a:off x="643278" y="1705"/>
            <a:ext cx="4438511" cy="44061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fontAlgn="auto"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8200" b="1" i="0" u="none" strike="noStrike" cap="none" spc="0" normalizeH="0" baseline="0" noProof="0" err="1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Secteur</a:t>
            </a:r>
            <a:r>
              <a:rPr kumimoji="0" lang="en-US" sz="82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 </a:t>
            </a:r>
            <a:r>
              <a:rPr kumimoji="0" lang="en-US" sz="8200" b="1" i="0" u="none" strike="noStrike" cap="none" spc="0" normalizeH="0" baseline="0" noProof="0" err="1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d’activité</a:t>
            </a:r>
            <a:r>
              <a:rPr kumimoji="0" lang="en-US" sz="82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 et clients</a:t>
            </a:r>
            <a:endParaRPr lang="en-US" sz="8200" b="1" i="0" u="none" strike="noStrike" cap="none" spc="0" normalizeH="0" baseline="0" noProof="0" dirty="0">
              <a:ln>
                <a:noFill/>
              </a:ln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3083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27432"/>
          </a:xfrm>
          <a:custGeom>
            <a:avLst/>
            <a:gdLst>
              <a:gd name="connsiteX0" fmla="*/ 0 w 3255095"/>
              <a:gd name="connsiteY0" fmla="*/ 0 h 27432"/>
              <a:gd name="connsiteX1" fmla="*/ 618468 w 3255095"/>
              <a:gd name="connsiteY1" fmla="*/ 0 h 27432"/>
              <a:gd name="connsiteX2" fmla="*/ 1269487 w 3255095"/>
              <a:gd name="connsiteY2" fmla="*/ 0 h 27432"/>
              <a:gd name="connsiteX3" fmla="*/ 1953057 w 3255095"/>
              <a:gd name="connsiteY3" fmla="*/ 0 h 27432"/>
              <a:gd name="connsiteX4" fmla="*/ 2636627 w 3255095"/>
              <a:gd name="connsiteY4" fmla="*/ 0 h 27432"/>
              <a:gd name="connsiteX5" fmla="*/ 3255095 w 3255095"/>
              <a:gd name="connsiteY5" fmla="*/ 0 h 27432"/>
              <a:gd name="connsiteX6" fmla="*/ 3255095 w 3255095"/>
              <a:gd name="connsiteY6" fmla="*/ 27432 h 27432"/>
              <a:gd name="connsiteX7" fmla="*/ 2538974 w 3255095"/>
              <a:gd name="connsiteY7" fmla="*/ 27432 h 27432"/>
              <a:gd name="connsiteX8" fmla="*/ 1822853 w 3255095"/>
              <a:gd name="connsiteY8" fmla="*/ 27432 h 27432"/>
              <a:gd name="connsiteX9" fmla="*/ 1171834 w 3255095"/>
              <a:gd name="connsiteY9" fmla="*/ 27432 h 27432"/>
              <a:gd name="connsiteX10" fmla="*/ 0 w 3255095"/>
              <a:gd name="connsiteY10" fmla="*/ 27432 h 27432"/>
              <a:gd name="connsiteX11" fmla="*/ 0 w 3255095"/>
              <a:gd name="connsiteY11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27432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3929" y="7395"/>
                  <a:pt x="3255140" y="21864"/>
                  <a:pt x="3255095" y="27432"/>
                </a:cubicBezTo>
                <a:cubicBezTo>
                  <a:pt x="3088545" y="32347"/>
                  <a:pt x="2687475" y="16563"/>
                  <a:pt x="2538974" y="27432"/>
                </a:cubicBezTo>
                <a:cubicBezTo>
                  <a:pt x="2390473" y="38301"/>
                  <a:pt x="2137381" y="185"/>
                  <a:pt x="1822853" y="27432"/>
                </a:cubicBezTo>
                <a:cubicBezTo>
                  <a:pt x="1508325" y="54679"/>
                  <a:pt x="1466437" y="29529"/>
                  <a:pt x="1171834" y="27432"/>
                </a:cubicBezTo>
                <a:cubicBezTo>
                  <a:pt x="877231" y="25335"/>
                  <a:pt x="561097" y="46787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w="3255095" h="27432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5288" y="12649"/>
                  <a:pt x="3254107" y="17989"/>
                  <a:pt x="3255095" y="27432"/>
                </a:cubicBezTo>
                <a:cubicBezTo>
                  <a:pt x="3120743" y="25834"/>
                  <a:pt x="2759628" y="51606"/>
                  <a:pt x="2604076" y="27432"/>
                </a:cubicBezTo>
                <a:cubicBezTo>
                  <a:pt x="2448524" y="3258"/>
                  <a:pt x="2184336" y="28743"/>
                  <a:pt x="1887955" y="27432"/>
                </a:cubicBezTo>
                <a:cubicBezTo>
                  <a:pt x="1591574" y="26121"/>
                  <a:pt x="1548845" y="16014"/>
                  <a:pt x="1334589" y="27432"/>
                </a:cubicBezTo>
                <a:cubicBezTo>
                  <a:pt x="1120333" y="38850"/>
                  <a:pt x="996014" y="18806"/>
                  <a:pt x="683570" y="27432"/>
                </a:cubicBezTo>
                <a:cubicBezTo>
                  <a:pt x="371126" y="36058"/>
                  <a:pt x="198687" y="25311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rgbClr val="F39368"/>
          </a:solidFill>
          <a:ln w="38100" cap="rnd">
            <a:solidFill>
              <a:srgbClr val="F39368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GESTION FINANCIÈRE DE L'ENTREPRISE – plateforme need">
            <a:extLst>
              <a:ext uri="{FF2B5EF4-FFF2-40B4-BE49-F238E27FC236}">
                <a16:creationId xmlns:a16="http://schemas.microsoft.com/office/drawing/2014/main" id="{78801331-9610-CD1F-4BD2-D7AD57B46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30347" y="0"/>
            <a:ext cx="7361653" cy="5521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6816C4-BBC0-E6CD-CF89-F76A3A73A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25696"/>
            <a:ext cx="12192000" cy="13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944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17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23" name="Rectangle 122">
            <a:extLst>
              <a:ext uri="{FF2B5EF4-FFF2-40B4-BE49-F238E27FC236}">
                <a16:creationId xmlns:a16="http://schemas.microsoft.com/office/drawing/2014/main" id="{20B67C63-21CE-4DD4-B07B-F0EA5AC8F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BF6884D-032A-4A2D-B38D-D9CD11E1C462}"/>
              </a:ext>
            </a:extLst>
          </p:cNvPr>
          <p:cNvSpPr txBox="1"/>
          <p:nvPr/>
        </p:nvSpPr>
        <p:spPr>
          <a:xfrm>
            <a:off x="640080" y="795528"/>
            <a:ext cx="10908792" cy="106984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8000" b="1" dirty="0">
                <a:latin typeface="The Hand"/>
                <a:ea typeface="+mj-ea"/>
                <a:cs typeface="+mj-cs"/>
              </a:rPr>
              <a:t>Solution et </a:t>
            </a:r>
            <a:r>
              <a:rPr lang="en-US" sz="8000" b="1" err="1">
                <a:latin typeface="The Hand"/>
                <a:ea typeface="+mj-ea"/>
                <a:cs typeface="+mj-cs"/>
              </a:rPr>
              <a:t>modèle</a:t>
            </a:r>
            <a:r>
              <a:rPr lang="en-US" sz="8000" b="1" dirty="0">
                <a:latin typeface="The Hand"/>
                <a:ea typeface="+mj-ea"/>
                <a:cs typeface="+mj-cs"/>
              </a:rPr>
              <a:t> </a:t>
            </a:r>
            <a:r>
              <a:rPr lang="en-US" sz="8000" b="1" err="1">
                <a:latin typeface="The Hand"/>
                <a:ea typeface="+mj-ea"/>
                <a:cs typeface="+mj-cs"/>
              </a:rPr>
              <a:t>économique</a:t>
            </a:r>
            <a:endParaRPr lang="en-US" sz="8000" b="1" dirty="0">
              <a:latin typeface="The Hand"/>
              <a:ea typeface="+mj-ea"/>
              <a:cs typeface="+mj-cs"/>
            </a:endParaRPr>
          </a:p>
        </p:txBody>
      </p:sp>
      <p:pic>
        <p:nvPicPr>
          <p:cNvPr id="2" name="Picture 1" descr="A screenshot of a phone&#10;&#10;AI-generated content may be incorrect.">
            <a:extLst>
              <a:ext uri="{FF2B5EF4-FFF2-40B4-BE49-F238E27FC236}">
                <a16:creationId xmlns:a16="http://schemas.microsoft.com/office/drawing/2014/main" id="{9BD8F1A7-A3BF-5851-6B4B-3AF170ED55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19"/>
          <a:stretch>
            <a:fillRect/>
          </a:stretch>
        </p:blipFill>
        <p:spPr>
          <a:xfrm>
            <a:off x="20" y="2651757"/>
            <a:ext cx="12191980" cy="4206245"/>
          </a:xfrm>
          <a:custGeom>
            <a:avLst/>
            <a:gdLst/>
            <a:ahLst/>
            <a:cxnLst/>
            <a:rect l="l" t="t" r="r" b="b"/>
            <a:pathLst>
              <a:path w="12192000" h="4206245">
                <a:moveTo>
                  <a:pt x="7221828" y="879"/>
                </a:moveTo>
                <a:cubicBezTo>
                  <a:pt x="7321999" y="5084"/>
                  <a:pt x="7421080" y="23261"/>
                  <a:pt x="7520947" y="31075"/>
                </a:cubicBezTo>
                <a:cubicBezTo>
                  <a:pt x="7615987" y="38571"/>
                  <a:pt x="7711026" y="49499"/>
                  <a:pt x="7806574" y="34506"/>
                </a:cubicBezTo>
                <a:cubicBezTo>
                  <a:pt x="7900292" y="21762"/>
                  <a:pt x="7995077" y="18776"/>
                  <a:pt x="8089405" y="25612"/>
                </a:cubicBezTo>
                <a:cubicBezTo>
                  <a:pt x="8193720" y="30821"/>
                  <a:pt x="8297780" y="48101"/>
                  <a:pt x="8402730" y="33616"/>
                </a:cubicBezTo>
                <a:cubicBezTo>
                  <a:pt x="8415956" y="32269"/>
                  <a:pt x="8429310" y="34010"/>
                  <a:pt x="8441737" y="38699"/>
                </a:cubicBezTo>
                <a:cubicBezTo>
                  <a:pt x="8482535" y="52255"/>
                  <a:pt x="8526485" y="53094"/>
                  <a:pt x="8567778" y="41113"/>
                </a:cubicBezTo>
                <a:cubicBezTo>
                  <a:pt x="8619999" y="27213"/>
                  <a:pt x="8674837" y="26297"/>
                  <a:pt x="8727490" y="38445"/>
                </a:cubicBezTo>
                <a:cubicBezTo>
                  <a:pt x="8805758" y="55470"/>
                  <a:pt x="8884280" y="72242"/>
                  <a:pt x="8965724" y="58266"/>
                </a:cubicBezTo>
                <a:cubicBezTo>
                  <a:pt x="9013117" y="50261"/>
                  <a:pt x="9057079" y="30821"/>
                  <a:pt x="9103836" y="21673"/>
                </a:cubicBezTo>
                <a:cubicBezTo>
                  <a:pt x="9238517" y="-4628"/>
                  <a:pt x="9374470" y="3249"/>
                  <a:pt x="9510422" y="12143"/>
                </a:cubicBezTo>
                <a:cubicBezTo>
                  <a:pt x="9643198" y="20910"/>
                  <a:pt x="9775338" y="38952"/>
                  <a:pt x="9908876" y="36284"/>
                </a:cubicBezTo>
                <a:cubicBezTo>
                  <a:pt x="9937311" y="36500"/>
                  <a:pt x="9965684" y="38876"/>
                  <a:pt x="9993750" y="43400"/>
                </a:cubicBezTo>
                <a:cubicBezTo>
                  <a:pt x="10097938" y="57122"/>
                  <a:pt x="10202634" y="70082"/>
                  <a:pt x="10305678" y="42383"/>
                </a:cubicBezTo>
                <a:cubicBezTo>
                  <a:pt x="10398062" y="17340"/>
                  <a:pt x="10494461" y="10695"/>
                  <a:pt x="10589399" y="22816"/>
                </a:cubicBezTo>
                <a:cubicBezTo>
                  <a:pt x="10714411" y="39194"/>
                  <a:pt x="10840770" y="42777"/>
                  <a:pt x="10966507" y="33489"/>
                </a:cubicBezTo>
                <a:cubicBezTo>
                  <a:pt x="11005971" y="29563"/>
                  <a:pt x="11045651" y="28153"/>
                  <a:pt x="11085306" y="29296"/>
                </a:cubicBezTo>
                <a:cubicBezTo>
                  <a:pt x="11374490" y="42510"/>
                  <a:pt x="11664564" y="25103"/>
                  <a:pt x="11953240" y="55851"/>
                </a:cubicBezTo>
                <a:cubicBezTo>
                  <a:pt x="11998873" y="61232"/>
                  <a:pt x="12044817" y="61626"/>
                  <a:pt x="12090273" y="57111"/>
                </a:cubicBezTo>
                <a:lnTo>
                  <a:pt x="12192000" y="35723"/>
                </a:lnTo>
                <a:lnTo>
                  <a:pt x="12192000" y="4206245"/>
                </a:lnTo>
                <a:lnTo>
                  <a:pt x="0" y="4206245"/>
                </a:lnTo>
                <a:lnTo>
                  <a:pt x="0" y="36060"/>
                </a:lnTo>
                <a:lnTo>
                  <a:pt x="6227" y="34760"/>
                </a:lnTo>
                <a:cubicBezTo>
                  <a:pt x="22764" y="29906"/>
                  <a:pt x="39831" y="27085"/>
                  <a:pt x="57050" y="26374"/>
                </a:cubicBezTo>
                <a:cubicBezTo>
                  <a:pt x="189699" y="9729"/>
                  <a:pt x="322475" y="14176"/>
                  <a:pt x="455759" y="19640"/>
                </a:cubicBezTo>
                <a:cubicBezTo>
                  <a:pt x="687894" y="29042"/>
                  <a:pt x="920283" y="39969"/>
                  <a:pt x="1152799" y="36666"/>
                </a:cubicBezTo>
                <a:cubicBezTo>
                  <a:pt x="1388746" y="33235"/>
                  <a:pt x="1624184" y="40478"/>
                  <a:pt x="1859877" y="50007"/>
                </a:cubicBezTo>
                <a:cubicBezTo>
                  <a:pt x="1963175" y="53946"/>
                  <a:pt x="2067109" y="57884"/>
                  <a:pt x="2168755" y="28534"/>
                </a:cubicBezTo>
                <a:cubicBezTo>
                  <a:pt x="2191727" y="23159"/>
                  <a:pt x="2215678" y="23680"/>
                  <a:pt x="2238383" y="30059"/>
                </a:cubicBezTo>
                <a:cubicBezTo>
                  <a:pt x="2352481" y="56614"/>
                  <a:pt x="2467214" y="64491"/>
                  <a:pt x="2582583" y="38317"/>
                </a:cubicBezTo>
                <a:cubicBezTo>
                  <a:pt x="2715206" y="9602"/>
                  <a:pt x="2851717" y="3465"/>
                  <a:pt x="2986373" y="20148"/>
                </a:cubicBezTo>
                <a:cubicBezTo>
                  <a:pt x="3109493" y="33870"/>
                  <a:pt x="3233247" y="48736"/>
                  <a:pt x="3356620" y="37682"/>
                </a:cubicBezTo>
                <a:cubicBezTo>
                  <a:pt x="3551528" y="20148"/>
                  <a:pt x="3746180" y="35395"/>
                  <a:pt x="3941087" y="40096"/>
                </a:cubicBezTo>
                <a:cubicBezTo>
                  <a:pt x="4005887" y="41621"/>
                  <a:pt x="4071068" y="54962"/>
                  <a:pt x="4135486" y="43018"/>
                </a:cubicBezTo>
                <a:cubicBezTo>
                  <a:pt x="4237006" y="24214"/>
                  <a:pt x="4337382" y="31456"/>
                  <a:pt x="4439028" y="42002"/>
                </a:cubicBezTo>
                <a:cubicBezTo>
                  <a:pt x="4633681" y="62332"/>
                  <a:pt x="4828207" y="72115"/>
                  <a:pt x="5021970" y="33997"/>
                </a:cubicBezTo>
                <a:cubicBezTo>
                  <a:pt x="5082069" y="22054"/>
                  <a:pt x="5141786" y="15193"/>
                  <a:pt x="5202902" y="31202"/>
                </a:cubicBezTo>
                <a:cubicBezTo>
                  <a:pt x="5229888" y="37364"/>
                  <a:pt x="5257981" y="36844"/>
                  <a:pt x="5284727" y="29678"/>
                </a:cubicBezTo>
                <a:cubicBezTo>
                  <a:pt x="5374023" y="9971"/>
                  <a:pt x="5466013" y="5676"/>
                  <a:pt x="5556757" y="16972"/>
                </a:cubicBezTo>
                <a:cubicBezTo>
                  <a:pt x="5631597" y="24214"/>
                  <a:pt x="5706686" y="29296"/>
                  <a:pt x="5781523" y="36920"/>
                </a:cubicBezTo>
                <a:cubicBezTo>
                  <a:pt x="5814812" y="40350"/>
                  <a:pt x="5848485" y="27645"/>
                  <a:pt x="5881264" y="39334"/>
                </a:cubicBezTo>
                <a:cubicBezTo>
                  <a:pt x="5953687" y="65254"/>
                  <a:pt x="6027889" y="62585"/>
                  <a:pt x="6101074" y="48101"/>
                </a:cubicBezTo>
                <a:cubicBezTo>
                  <a:pt x="6253468" y="16133"/>
                  <a:pt x="6410016" y="8916"/>
                  <a:pt x="6564709" y="26755"/>
                </a:cubicBezTo>
                <a:cubicBezTo>
                  <a:pt x="6628873" y="35141"/>
                  <a:pt x="6693292" y="47847"/>
                  <a:pt x="6758599" y="35141"/>
                </a:cubicBezTo>
                <a:cubicBezTo>
                  <a:pt x="6764749" y="34048"/>
                  <a:pt x="6770937" y="36818"/>
                  <a:pt x="6774228" y="42129"/>
                </a:cubicBezTo>
                <a:cubicBezTo>
                  <a:pt x="6806500" y="81517"/>
                  <a:pt x="6848429" y="80246"/>
                  <a:pt x="6891248" y="67541"/>
                </a:cubicBezTo>
                <a:cubicBezTo>
                  <a:pt x="6919353" y="58837"/>
                  <a:pt x="6946899" y="48406"/>
                  <a:pt x="6973708" y="36284"/>
                </a:cubicBezTo>
                <a:cubicBezTo>
                  <a:pt x="7020644" y="16819"/>
                  <a:pt x="7070501" y="5308"/>
                  <a:pt x="7121223" y="2233"/>
                </a:cubicBezTo>
                <a:cubicBezTo>
                  <a:pt x="7154926" y="-372"/>
                  <a:pt x="7188437" y="-522"/>
                  <a:pt x="7221828" y="87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28343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53341-9D42-8143-E3F6-DDA9D61D6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CE5EBE3-E64E-1184-C664-9328655CFD7C}"/>
              </a:ext>
            </a:extLst>
          </p:cNvPr>
          <p:cNvSpPr/>
          <p:nvPr/>
        </p:nvSpPr>
        <p:spPr>
          <a:xfrm>
            <a:off x="3695246" y="2933248"/>
            <a:ext cx="4735284" cy="4626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  <p:pic>
        <p:nvPicPr>
          <p:cNvPr id="6" name="Image 6">
            <a:extLst>
              <a:ext uri="{FF2B5EF4-FFF2-40B4-BE49-F238E27FC236}">
                <a16:creationId xmlns:a16="http://schemas.microsoft.com/office/drawing/2014/main" id="{8E73F2B2-A743-4ABD-948A-7E46AB593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507" y="1302642"/>
            <a:ext cx="4112985" cy="10401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4990259-9A50-F6C2-08B5-80AC0AF6CEE9}"/>
              </a:ext>
            </a:extLst>
          </p:cNvPr>
          <p:cNvSpPr txBox="1"/>
          <p:nvPr/>
        </p:nvSpPr>
        <p:spPr>
          <a:xfrm>
            <a:off x="0" y="64548"/>
            <a:ext cx="12192000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Environnement technique</a:t>
            </a:r>
            <a:endParaRPr lang="fr-FR" sz="8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1030" name="Picture 6" descr="html-css-js-logos – JC's NUS CEG Journey">
            <a:extLst>
              <a:ext uri="{FF2B5EF4-FFF2-40B4-BE49-F238E27FC236}">
                <a16:creationId xmlns:a16="http://schemas.microsoft.com/office/drawing/2014/main" id="{439A92F5-D912-3659-421E-76A8BFF9C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367" y="1412326"/>
            <a:ext cx="3443403" cy="2017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Jquery vertical logo - Icônes Médias sociaux et logos">
            <a:extLst>
              <a:ext uri="{FF2B5EF4-FFF2-40B4-BE49-F238E27FC236}">
                <a16:creationId xmlns:a16="http://schemas.microsoft.com/office/drawing/2014/main" id="{1D53D3E3-3D56-E1D9-74B4-272DAF3CC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771" y="1412325"/>
            <a:ext cx="2153684" cy="2023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5DD1FAFB-5BE0-5CC5-F008-F08ADAD16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367" y="3435610"/>
            <a:ext cx="3443403" cy="185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Symfony logo and screenshots">
            <a:extLst>
              <a:ext uri="{FF2B5EF4-FFF2-40B4-BE49-F238E27FC236}">
                <a16:creationId xmlns:a16="http://schemas.microsoft.com/office/drawing/2014/main" id="{F0268FD1-00D9-F92F-967B-A10668A76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829" y="3441275"/>
            <a:ext cx="1539343" cy="1853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Free Doctrine Icons, Logos, Symbols - Free Download in SVG, PNG">
            <a:extLst>
              <a:ext uri="{FF2B5EF4-FFF2-40B4-BE49-F238E27FC236}">
                <a16:creationId xmlns:a16="http://schemas.microsoft.com/office/drawing/2014/main" id="{57EAB6CC-CD83-6EB2-4507-B09B2ACE1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2492" y="3395889"/>
            <a:ext cx="1853773" cy="1853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B2803405-4CA6-04A5-2A26-D2B3A4B91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972" y="5438593"/>
            <a:ext cx="2609314" cy="121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D9B1D574-431E-9631-01E2-2E06882A6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281" y="5444259"/>
            <a:ext cx="4457984" cy="121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DevExtreme Complete | Beesoft 蜂潮資訊| 台灣專業軟體代理">
            <a:extLst>
              <a:ext uri="{FF2B5EF4-FFF2-40B4-BE49-F238E27FC236}">
                <a16:creationId xmlns:a16="http://schemas.microsoft.com/office/drawing/2014/main" id="{63B05E7A-CF84-78CB-6EC3-158B6E9BA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8034" y="1422948"/>
            <a:ext cx="3853031" cy="2022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899FF8-BA3F-4709-DAEE-6A35FC22B003}"/>
              </a:ext>
            </a:extLst>
          </p:cNvPr>
          <p:cNvSpPr txBox="1"/>
          <p:nvPr/>
        </p:nvSpPr>
        <p:spPr>
          <a:xfrm>
            <a:off x="644631" y="2110952"/>
            <a:ext cx="11114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The Hand"/>
              </a:rPr>
              <a:t>F</a:t>
            </a:r>
            <a:r>
              <a:rPr lang="fr-FR" sz="3600" dirty="0" err="1">
                <a:solidFill>
                  <a:prstClr val="black"/>
                </a:solidFill>
                <a:latin typeface="The Hand"/>
              </a:rPr>
              <a:t>rontend</a:t>
            </a:r>
            <a:endParaRPr kumimoji="0" lang="fr-FR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960AF-BA27-A209-1851-093DEE39765B}"/>
              </a:ext>
            </a:extLst>
          </p:cNvPr>
          <p:cNvSpPr txBox="1"/>
          <p:nvPr/>
        </p:nvSpPr>
        <p:spPr>
          <a:xfrm>
            <a:off x="681627" y="3999609"/>
            <a:ext cx="10374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  <a:ea typeface="+mn-ea"/>
                <a:cs typeface="+mn-cs"/>
              </a:rPr>
              <a:t>Backend</a:t>
            </a:r>
            <a:endParaRPr kumimoji="0" lang="fr-FR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AAE3DB-1B47-FA58-3E69-D92280B13808}"/>
              </a:ext>
            </a:extLst>
          </p:cNvPr>
          <p:cNvSpPr txBox="1"/>
          <p:nvPr/>
        </p:nvSpPr>
        <p:spPr>
          <a:xfrm>
            <a:off x="176685" y="5724267"/>
            <a:ext cx="20473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  <a:ea typeface="+mn-ea"/>
                <a:cs typeface="+mn-cs"/>
              </a:rPr>
              <a:t>Base</a:t>
            </a:r>
            <a:r>
              <a:rPr lang="en-US" sz="3600" dirty="0">
                <a:solidFill>
                  <a:prstClr val="black"/>
                </a:solidFill>
                <a:latin typeface="The Hand"/>
              </a:rPr>
              <a:t>s de données</a:t>
            </a:r>
            <a:endParaRPr kumimoji="0" lang="fr-FR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0035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10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BF6884D-032A-4A2D-B38D-D9CD11E1C462}"/>
              </a:ext>
            </a:extLst>
          </p:cNvPr>
          <p:cNvSpPr txBox="1"/>
          <p:nvPr/>
        </p:nvSpPr>
        <p:spPr>
          <a:xfrm>
            <a:off x="5297761" y="673400"/>
            <a:ext cx="6740163" cy="250525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8200" b="1" i="0" u="none" strike="noStrike" cap="none" spc="0" normalizeH="0" baseline="0" noProof="0" err="1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Organisation</a:t>
            </a:r>
            <a:r>
              <a:rPr kumimoji="0" lang="en-US" sz="82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  <a:t> et équipe</a:t>
            </a:r>
            <a:endParaRPr lang="en-US" sz="8200" b="1" i="0" u="none" strike="noStrike" cap="none" spc="0" normalizeH="0" baseline="0" noProof="0" dirty="0">
              <a:ln>
                <a:noFill/>
              </a:ln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115" name="Rectangle 6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AE6B5A"/>
          </a:solidFill>
          <a:ln w="38100" cap="rnd">
            <a:solidFill>
              <a:srgbClr val="AE6B5A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64BE9E-5947-1E98-3927-6B6E389AE2F1}"/>
              </a:ext>
            </a:extLst>
          </p:cNvPr>
          <p:cNvSpPr/>
          <p:nvPr/>
        </p:nvSpPr>
        <p:spPr>
          <a:xfrm>
            <a:off x="5297761" y="4307753"/>
            <a:ext cx="4509430" cy="2030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4B5E7D46-3E0E-5942-4074-A85CC6F13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761" y="3258540"/>
            <a:ext cx="6740163" cy="170460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B6FA398-BF8F-F1F5-7B8B-302BEDECA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7761" y="3678004"/>
            <a:ext cx="6740163" cy="1059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tHub logo PNG transparent image download, size: 1125x417px">
            <a:extLst>
              <a:ext uri="{FF2B5EF4-FFF2-40B4-BE49-F238E27FC236}">
                <a16:creationId xmlns:a16="http://schemas.microsoft.com/office/drawing/2014/main" id="{C3AE06D4-2926-3C6A-1E52-12F96BB19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0510" y="4737853"/>
            <a:ext cx="5373291" cy="199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6322EC-6200-0443-C166-D5580B81623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4677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272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 idx="4294967295"/>
          </p:nvPr>
        </p:nvSpPr>
        <p:spPr>
          <a:xfrm>
            <a:off x="638882" y="3577456"/>
            <a:ext cx="10909640" cy="1687814"/>
          </a:xfrm>
        </p:spPr>
        <p:txBody>
          <a:bodyPr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de-DE" sz="8200" b="1" dirty="0">
                <a:latin typeface="The Hand"/>
              </a:rPr>
              <a:t>Ma </a:t>
            </a:r>
            <a:r>
              <a:rPr lang="de-DE" sz="8200" b="1" err="1">
                <a:latin typeface="The Hand"/>
              </a:rPr>
              <a:t>place</a:t>
            </a:r>
            <a:r>
              <a:rPr lang="de-DE" sz="8200" b="1" dirty="0">
                <a:latin typeface="The Hand"/>
              </a:rPr>
              <a:t> </a:t>
            </a:r>
            <a:r>
              <a:rPr lang="de-DE" sz="8200" b="1" err="1">
                <a:latin typeface="The Hand"/>
              </a:rPr>
              <a:t>dans</a:t>
            </a:r>
            <a:r>
              <a:rPr lang="de-DE" sz="8200" b="1" dirty="0">
                <a:latin typeface="The Hand"/>
              </a:rPr>
              <a:t> </a:t>
            </a:r>
            <a:r>
              <a:rPr lang="de-DE" sz="8200" b="1" err="1">
                <a:latin typeface="The Hand"/>
              </a:rPr>
              <a:t>son</a:t>
            </a:r>
            <a:r>
              <a:rPr lang="de-DE" sz="8200" b="1" dirty="0">
                <a:latin typeface="The Hand"/>
              </a:rPr>
              <a:t> </a:t>
            </a:r>
            <a:r>
              <a:rPr lang="de-DE" sz="8200" b="1" err="1">
                <a:latin typeface="The Hand"/>
              </a:rPr>
              <a:t>développement</a:t>
            </a:r>
            <a:endParaRPr lang="de-DE" sz="8200" b="1" dirty="0">
              <a:latin typeface="The Hand"/>
            </a:endParaRPr>
          </a:p>
        </p:txBody>
      </p:sp>
      <p:sp>
        <p:nvSpPr>
          <p:cNvPr id="55" name="Rectangle 6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27432"/>
          </a:xfrm>
          <a:custGeom>
            <a:avLst/>
            <a:gdLst>
              <a:gd name="connsiteX0" fmla="*/ 0 w 4572000"/>
              <a:gd name="connsiteY0" fmla="*/ 0 h 27432"/>
              <a:gd name="connsiteX1" fmla="*/ 607423 w 4572000"/>
              <a:gd name="connsiteY1" fmla="*/ 0 h 27432"/>
              <a:gd name="connsiteX2" fmla="*/ 1123406 w 4572000"/>
              <a:gd name="connsiteY2" fmla="*/ 0 h 27432"/>
              <a:gd name="connsiteX3" fmla="*/ 1685109 w 4572000"/>
              <a:gd name="connsiteY3" fmla="*/ 0 h 27432"/>
              <a:gd name="connsiteX4" fmla="*/ 2383971 w 4572000"/>
              <a:gd name="connsiteY4" fmla="*/ 0 h 27432"/>
              <a:gd name="connsiteX5" fmla="*/ 2991394 w 4572000"/>
              <a:gd name="connsiteY5" fmla="*/ 0 h 27432"/>
              <a:gd name="connsiteX6" fmla="*/ 3553097 w 4572000"/>
              <a:gd name="connsiteY6" fmla="*/ 0 h 27432"/>
              <a:gd name="connsiteX7" fmla="*/ 4572000 w 4572000"/>
              <a:gd name="connsiteY7" fmla="*/ 0 h 27432"/>
              <a:gd name="connsiteX8" fmla="*/ 4572000 w 4572000"/>
              <a:gd name="connsiteY8" fmla="*/ 27432 h 27432"/>
              <a:gd name="connsiteX9" fmla="*/ 3918857 w 4572000"/>
              <a:gd name="connsiteY9" fmla="*/ 27432 h 27432"/>
              <a:gd name="connsiteX10" fmla="*/ 3357154 w 4572000"/>
              <a:gd name="connsiteY10" fmla="*/ 27432 h 27432"/>
              <a:gd name="connsiteX11" fmla="*/ 2612571 w 4572000"/>
              <a:gd name="connsiteY11" fmla="*/ 27432 h 27432"/>
              <a:gd name="connsiteX12" fmla="*/ 2005149 w 4572000"/>
              <a:gd name="connsiteY12" fmla="*/ 27432 h 27432"/>
              <a:gd name="connsiteX13" fmla="*/ 1489166 w 4572000"/>
              <a:gd name="connsiteY13" fmla="*/ 27432 h 27432"/>
              <a:gd name="connsiteX14" fmla="*/ 790303 w 4572000"/>
              <a:gd name="connsiteY14" fmla="*/ 27432 h 27432"/>
              <a:gd name="connsiteX15" fmla="*/ 0 w 4572000"/>
              <a:gd name="connsiteY15" fmla="*/ 27432 h 27432"/>
              <a:gd name="connsiteX16" fmla="*/ 0 w 457200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27432" fill="none" extrusionOk="0">
                <a:moveTo>
                  <a:pt x="0" y="0"/>
                </a:moveTo>
                <a:cubicBezTo>
                  <a:pt x="150397" y="-23421"/>
                  <a:pt x="474161" y="9174"/>
                  <a:pt x="607423" y="0"/>
                </a:cubicBezTo>
                <a:cubicBezTo>
                  <a:pt x="740685" y="-9174"/>
                  <a:pt x="868821" y="-4258"/>
                  <a:pt x="1123406" y="0"/>
                </a:cubicBezTo>
                <a:cubicBezTo>
                  <a:pt x="1377991" y="4258"/>
                  <a:pt x="1567664" y="-12410"/>
                  <a:pt x="1685109" y="0"/>
                </a:cubicBezTo>
                <a:cubicBezTo>
                  <a:pt x="1802554" y="12410"/>
                  <a:pt x="2193086" y="-14353"/>
                  <a:pt x="2383971" y="0"/>
                </a:cubicBezTo>
                <a:cubicBezTo>
                  <a:pt x="2574856" y="14353"/>
                  <a:pt x="2697477" y="-26142"/>
                  <a:pt x="2991394" y="0"/>
                </a:cubicBezTo>
                <a:cubicBezTo>
                  <a:pt x="3285311" y="26142"/>
                  <a:pt x="3423667" y="26544"/>
                  <a:pt x="3553097" y="0"/>
                </a:cubicBezTo>
                <a:cubicBezTo>
                  <a:pt x="3682527" y="-26544"/>
                  <a:pt x="4344147" y="50350"/>
                  <a:pt x="4572000" y="0"/>
                </a:cubicBezTo>
                <a:cubicBezTo>
                  <a:pt x="4571027" y="8304"/>
                  <a:pt x="4571522" y="21512"/>
                  <a:pt x="4572000" y="27432"/>
                </a:cubicBezTo>
                <a:cubicBezTo>
                  <a:pt x="4438349" y="5490"/>
                  <a:pt x="4090129" y="31231"/>
                  <a:pt x="3918857" y="27432"/>
                </a:cubicBezTo>
                <a:cubicBezTo>
                  <a:pt x="3747585" y="23633"/>
                  <a:pt x="3498826" y="6883"/>
                  <a:pt x="3357154" y="27432"/>
                </a:cubicBezTo>
                <a:cubicBezTo>
                  <a:pt x="3215482" y="47981"/>
                  <a:pt x="2784289" y="56849"/>
                  <a:pt x="2612571" y="27432"/>
                </a:cubicBezTo>
                <a:cubicBezTo>
                  <a:pt x="2440853" y="-1985"/>
                  <a:pt x="2261292" y="25951"/>
                  <a:pt x="2005149" y="27432"/>
                </a:cubicBezTo>
                <a:cubicBezTo>
                  <a:pt x="1749006" y="28913"/>
                  <a:pt x="1700078" y="34342"/>
                  <a:pt x="1489166" y="27432"/>
                </a:cubicBezTo>
                <a:cubicBezTo>
                  <a:pt x="1278254" y="20522"/>
                  <a:pt x="1077188" y="56916"/>
                  <a:pt x="790303" y="27432"/>
                </a:cubicBezTo>
                <a:cubicBezTo>
                  <a:pt x="503418" y="-2052"/>
                  <a:pt x="359168" y="57044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572000" h="27432" stroke="0" extrusionOk="0">
                <a:moveTo>
                  <a:pt x="0" y="0"/>
                </a:moveTo>
                <a:cubicBezTo>
                  <a:pt x="155698" y="6780"/>
                  <a:pt x="465972" y="13197"/>
                  <a:pt x="607423" y="0"/>
                </a:cubicBezTo>
                <a:cubicBezTo>
                  <a:pt x="748874" y="-13197"/>
                  <a:pt x="1014133" y="22994"/>
                  <a:pt x="1123406" y="0"/>
                </a:cubicBezTo>
                <a:cubicBezTo>
                  <a:pt x="1232679" y="-22994"/>
                  <a:pt x="1639431" y="-2997"/>
                  <a:pt x="1867989" y="0"/>
                </a:cubicBezTo>
                <a:cubicBezTo>
                  <a:pt x="2096547" y="2997"/>
                  <a:pt x="2265668" y="29557"/>
                  <a:pt x="2475411" y="0"/>
                </a:cubicBezTo>
                <a:cubicBezTo>
                  <a:pt x="2685154" y="-29557"/>
                  <a:pt x="2951491" y="73"/>
                  <a:pt x="3082834" y="0"/>
                </a:cubicBezTo>
                <a:cubicBezTo>
                  <a:pt x="3214177" y="-73"/>
                  <a:pt x="3641000" y="-33478"/>
                  <a:pt x="3827417" y="0"/>
                </a:cubicBezTo>
                <a:cubicBezTo>
                  <a:pt x="4013834" y="33478"/>
                  <a:pt x="4345917" y="14255"/>
                  <a:pt x="4572000" y="0"/>
                </a:cubicBezTo>
                <a:cubicBezTo>
                  <a:pt x="4572485" y="9333"/>
                  <a:pt x="4573278" y="19699"/>
                  <a:pt x="4572000" y="27432"/>
                </a:cubicBezTo>
                <a:cubicBezTo>
                  <a:pt x="4318030" y="43025"/>
                  <a:pt x="4161104" y="34314"/>
                  <a:pt x="4010297" y="27432"/>
                </a:cubicBezTo>
                <a:cubicBezTo>
                  <a:pt x="3859490" y="20550"/>
                  <a:pt x="3592529" y="6613"/>
                  <a:pt x="3357154" y="27432"/>
                </a:cubicBezTo>
                <a:cubicBezTo>
                  <a:pt x="3121779" y="48251"/>
                  <a:pt x="2884285" y="3780"/>
                  <a:pt x="2704011" y="27432"/>
                </a:cubicBezTo>
                <a:cubicBezTo>
                  <a:pt x="2523737" y="51084"/>
                  <a:pt x="2295944" y="32081"/>
                  <a:pt x="2096589" y="27432"/>
                </a:cubicBezTo>
                <a:cubicBezTo>
                  <a:pt x="1897234" y="22783"/>
                  <a:pt x="1623782" y="52518"/>
                  <a:pt x="1352006" y="27432"/>
                </a:cubicBezTo>
                <a:cubicBezTo>
                  <a:pt x="1080230" y="2346"/>
                  <a:pt x="869959" y="12864"/>
                  <a:pt x="607423" y="27432"/>
                </a:cubicBezTo>
                <a:cubicBezTo>
                  <a:pt x="344887" y="42000"/>
                  <a:pt x="188100" y="40051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0081FF"/>
          </a:solidFill>
          <a:ln w="38100" cap="rnd">
            <a:solidFill>
              <a:srgbClr val="0081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  <p:sp>
        <p:nvSpPr>
          <p:cNvPr id="57" name="Date Placeholder 26">
            <a:extLst>
              <a:ext uri="{FF2B5EF4-FFF2-40B4-BE49-F238E27FC236}">
                <a16:creationId xmlns:a16="http://schemas.microsoft.com/office/drawing/2014/main" id="{F28B82B1-E269-4325-A665-6CFE5DEE5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  <p:sp>
        <p:nvSpPr>
          <p:cNvPr id="59" name="Footer Placeholder 27">
            <a:extLst>
              <a:ext uri="{FF2B5EF4-FFF2-40B4-BE49-F238E27FC236}">
                <a16:creationId xmlns:a16="http://schemas.microsoft.com/office/drawing/2014/main" id="{7C700527-76FD-4DF4-A597-6F5E089CA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  <p:sp>
        <p:nvSpPr>
          <p:cNvPr id="61" name="Slide Number Placeholder 28">
            <a:extLst>
              <a:ext uri="{FF2B5EF4-FFF2-40B4-BE49-F238E27FC236}">
                <a16:creationId xmlns:a16="http://schemas.microsoft.com/office/drawing/2014/main" id="{B5EA49A9-01EB-4D60-A392-7DC9B625D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6B5739-C7F3-AB0B-A2E7-A3E540D90B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757" y="520303"/>
            <a:ext cx="5559890" cy="33359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0964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A44555-77B7-4BBE-A6C9-38A10A8AF245}"/>
              </a:ext>
            </a:extLst>
          </p:cNvPr>
          <p:cNvSpPr/>
          <p:nvPr/>
        </p:nvSpPr>
        <p:spPr>
          <a:xfrm>
            <a:off x="3695246" y="2933248"/>
            <a:ext cx="4735284" cy="4626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  <p:pic>
        <p:nvPicPr>
          <p:cNvPr id="6" name="Image 6">
            <a:extLst>
              <a:ext uri="{FF2B5EF4-FFF2-40B4-BE49-F238E27FC236}">
                <a16:creationId xmlns:a16="http://schemas.microsoft.com/office/drawing/2014/main" id="{A84AD96A-DF48-44FF-B4C1-14B6850C5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043" y="1608062"/>
            <a:ext cx="4112985" cy="10401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BF6884D-032A-4A2D-B38D-D9CD11E1C462}"/>
              </a:ext>
            </a:extLst>
          </p:cNvPr>
          <p:cNvSpPr txBox="1"/>
          <p:nvPr/>
        </p:nvSpPr>
        <p:spPr>
          <a:xfrm>
            <a:off x="0" y="484258"/>
            <a:ext cx="12191999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8200" b="1" dirty="0">
                <a:solidFill>
                  <a:prstClr val="black"/>
                </a:solidFill>
                <a:latin typeface="The Hand"/>
              </a:rPr>
              <a:t>Les "</a:t>
            </a:r>
            <a:r>
              <a:rPr kumimoji="0" lang="fr-FR" sz="8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</a:rPr>
              <a:t>composants</a:t>
            </a:r>
            <a:r>
              <a:rPr lang="fr-FR" sz="8200" b="1" dirty="0">
                <a:solidFill>
                  <a:prstClr val="black"/>
                </a:solidFill>
                <a:latin typeface="The Hand"/>
              </a:rPr>
              <a:t>"</a:t>
            </a:r>
            <a:endParaRPr lang="fr-FR" sz="8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</a:endParaRPr>
          </a:p>
        </p:txBody>
      </p:sp>
      <p:pic>
        <p:nvPicPr>
          <p:cNvPr id="2" name="Picture 1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6EFDC138-7A76-6641-22C5-AD00E9004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100" y="1963421"/>
            <a:ext cx="4735285" cy="2206869"/>
          </a:xfrm>
          <a:prstGeom prst="rect">
            <a:avLst/>
          </a:prstGeom>
        </p:spPr>
      </p:pic>
      <p:pic>
        <p:nvPicPr>
          <p:cNvPr id="3" name="Picture 2" descr="A screenshot of a data sheet&#10;&#10;AI-generated content may be incorrect.">
            <a:extLst>
              <a:ext uri="{FF2B5EF4-FFF2-40B4-BE49-F238E27FC236}">
                <a16:creationId xmlns:a16="http://schemas.microsoft.com/office/drawing/2014/main" id="{69FBBA93-A472-E92D-CCF9-67E73A759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325" y="4366986"/>
            <a:ext cx="4735285" cy="1948144"/>
          </a:xfrm>
          <a:prstGeom prst="rect">
            <a:avLst/>
          </a:prstGeom>
        </p:spPr>
      </p:pic>
      <p:pic>
        <p:nvPicPr>
          <p:cNvPr id="4" name="Picture 3" descr="A map of france with blue shades&#10;&#10;AI-generated content may be incorrect.">
            <a:extLst>
              <a:ext uri="{FF2B5EF4-FFF2-40B4-BE49-F238E27FC236}">
                <a16:creationId xmlns:a16="http://schemas.microsoft.com/office/drawing/2014/main" id="{3874C70C-4375-0A2B-162E-5FB3BF16BD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9610" y="1935747"/>
            <a:ext cx="2516245" cy="2237065"/>
          </a:xfrm>
          <a:prstGeom prst="rect">
            <a:avLst/>
          </a:prstGeom>
        </p:spPr>
      </p:pic>
      <p:pic>
        <p:nvPicPr>
          <p:cNvPr id="8" name="Picture 7" descr="A circular chart with numbers and a needle&#10;&#10;AI-generated content may be incorrect.">
            <a:extLst>
              <a:ext uri="{FF2B5EF4-FFF2-40B4-BE49-F238E27FC236}">
                <a16:creationId xmlns:a16="http://schemas.microsoft.com/office/drawing/2014/main" id="{30DF19D4-1F67-4FB2-AA0C-EEC3A34545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1386" y="4164884"/>
            <a:ext cx="2512695" cy="235204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94C298-F9B7-3D5E-87AA-B7CC64C753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0530" y="4164884"/>
            <a:ext cx="2612390" cy="2344420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223DDC-23EA-75FB-3FFC-92803C55EC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4081" y="1935747"/>
            <a:ext cx="2788994" cy="222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528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3DD77-D26B-2546-39EB-64F5E0C93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6">
            <a:extLst>
              <a:ext uri="{FF2B5EF4-FFF2-40B4-BE49-F238E27FC236}">
                <a16:creationId xmlns:a16="http://schemas.microsoft.com/office/drawing/2014/main" id="{FC208638-6C8C-FE89-1374-F1F618643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043" y="1608062"/>
            <a:ext cx="4112985" cy="10401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7299369-E978-0196-A2C2-095C0E5933DF}"/>
              </a:ext>
            </a:extLst>
          </p:cNvPr>
          <p:cNvSpPr txBox="1"/>
          <p:nvPr/>
        </p:nvSpPr>
        <p:spPr>
          <a:xfrm>
            <a:off x="9293" y="251941"/>
            <a:ext cx="12191999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 algn="ctr">
              <a:defRPr/>
            </a:pPr>
            <a:r>
              <a:rPr lang="fr-FR" sz="8200" b="1" dirty="0">
                <a:solidFill>
                  <a:prstClr val="black"/>
                </a:solidFill>
                <a:latin typeface="The Hand"/>
              </a:rPr>
              <a:t>Les "</a:t>
            </a:r>
            <a:r>
              <a:rPr kumimoji="0" lang="fr-FR" sz="8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</a:rPr>
              <a:t>templates</a:t>
            </a:r>
            <a:r>
              <a:rPr lang="fr-FR" sz="8200" b="1" dirty="0">
                <a:solidFill>
                  <a:prstClr val="black"/>
                </a:solidFill>
                <a:latin typeface="The Hand"/>
              </a:rPr>
              <a:t>"</a:t>
            </a:r>
            <a:endParaRPr lang="fr-FR" sz="8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9450C7-48E6-D67C-11BB-A013C5EBD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36" y="1985716"/>
            <a:ext cx="5731510" cy="27489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1F07C7-82DC-EEB7-74C7-964DE5504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246" y="3429000"/>
            <a:ext cx="6251005" cy="274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120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A44555-77B7-4BBE-A6C9-38A10A8AF245}"/>
              </a:ext>
            </a:extLst>
          </p:cNvPr>
          <p:cNvSpPr/>
          <p:nvPr/>
        </p:nvSpPr>
        <p:spPr>
          <a:xfrm>
            <a:off x="3695246" y="2933248"/>
            <a:ext cx="4735284" cy="4626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  <p:pic>
        <p:nvPicPr>
          <p:cNvPr id="6" name="Image 6">
            <a:extLst>
              <a:ext uri="{FF2B5EF4-FFF2-40B4-BE49-F238E27FC236}">
                <a16:creationId xmlns:a16="http://schemas.microsoft.com/office/drawing/2014/main" id="{A84AD96A-DF48-44FF-B4C1-14B6850C5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506" y="1638542"/>
            <a:ext cx="4112985" cy="10401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BF6884D-032A-4A2D-B38D-D9CD11E1C462}"/>
              </a:ext>
            </a:extLst>
          </p:cNvPr>
          <p:cNvSpPr txBox="1"/>
          <p:nvPr/>
        </p:nvSpPr>
        <p:spPr>
          <a:xfrm>
            <a:off x="0" y="333015"/>
            <a:ext cx="12191999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</a:rPr>
              <a:t>Leur</a:t>
            </a:r>
            <a:r>
              <a:rPr kumimoji="0" lang="fr-FR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</a:rPr>
              <a:t> intégration </a:t>
            </a:r>
            <a:r>
              <a:rPr lang="fr-FR" sz="6600" b="1" dirty="0">
                <a:solidFill>
                  <a:prstClr val="black"/>
                </a:solidFill>
                <a:latin typeface="The Hand"/>
              </a:rPr>
              <a:t>"</a:t>
            </a:r>
            <a:r>
              <a:rPr kumimoji="0" lang="fr-FR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</a:rPr>
              <a:t>Cube</a:t>
            </a:r>
            <a:r>
              <a:rPr lang="fr-FR" sz="6600" b="1" dirty="0">
                <a:solidFill>
                  <a:prstClr val="black"/>
                </a:solidFill>
                <a:latin typeface="The Hand"/>
              </a:rPr>
              <a:t>"</a:t>
            </a:r>
            <a:endParaRPr lang="fr-FR" sz="6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04260A-5E08-E7C6-964B-18A78685A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286" y="1846577"/>
            <a:ext cx="9481427" cy="472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57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6">
            <a:extLst>
              <a:ext uri="{FF2B5EF4-FFF2-40B4-BE49-F238E27FC236}">
                <a16:creationId xmlns:a16="http://schemas.microsoft.com/office/drawing/2014/main" id="{A84AD96A-DF48-44FF-B4C1-14B6850C5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507" y="1310684"/>
            <a:ext cx="4112985" cy="10401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BF6884D-032A-4A2D-B38D-D9CD11E1C462}"/>
              </a:ext>
            </a:extLst>
          </p:cNvPr>
          <p:cNvSpPr txBox="1"/>
          <p:nvPr/>
        </p:nvSpPr>
        <p:spPr>
          <a:xfrm>
            <a:off x="-5234" y="4550"/>
            <a:ext cx="12191999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</a:rPr>
              <a:t>Mes autres missions</a:t>
            </a:r>
            <a:endParaRPr lang="fr-FR" sz="8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</a:endParaRPr>
          </a:p>
        </p:txBody>
      </p:sp>
      <p:pic>
        <p:nvPicPr>
          <p:cNvPr id="2" name="Picture 1" descr="A screenshot of a number&#10;&#10;AI-generated content may be incorrect.">
            <a:extLst>
              <a:ext uri="{FF2B5EF4-FFF2-40B4-BE49-F238E27FC236}">
                <a16:creationId xmlns:a16="http://schemas.microsoft.com/office/drawing/2014/main" id="{51625368-9C10-2E62-65E4-D6E63B4EF6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213" y="1440558"/>
            <a:ext cx="2790558" cy="5227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3E540D-B217-F0F9-FA2B-4FBBC2DC4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415" y="1440558"/>
            <a:ext cx="5340775" cy="2587252"/>
          </a:xfrm>
          <a:prstGeom prst="rect">
            <a:avLst/>
          </a:prstGeom>
        </p:spPr>
      </p:pic>
      <p:pic>
        <p:nvPicPr>
          <p:cNvPr id="4" name="Picture 3" descr="A person typing on a computer&#10;&#10;AI-generated content may be incorrect.">
            <a:extLst>
              <a:ext uri="{FF2B5EF4-FFF2-40B4-BE49-F238E27FC236}">
                <a16:creationId xmlns:a16="http://schemas.microsoft.com/office/drawing/2014/main" id="{0B60B40B-49DA-88D7-33C0-C6608156D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5414" y="4077557"/>
            <a:ext cx="5340775" cy="259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555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68AB93A-48BC-4C25-A3AD-C17B5A682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AF4AE179-A75B-4007-B5FA-8139ACF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58969" y="1168517"/>
            <a:ext cx="4889565" cy="4424065"/>
          </a:xfrm>
          <a:custGeom>
            <a:avLst/>
            <a:gdLst>
              <a:gd name="connsiteX0" fmla="*/ 2612540 w 5531319"/>
              <a:gd name="connsiteY0" fmla="*/ 836 h 4424065"/>
              <a:gd name="connsiteX1" fmla="*/ 2946310 w 5531319"/>
              <a:gd name="connsiteY1" fmla="*/ 35548 h 4424065"/>
              <a:gd name="connsiteX2" fmla="*/ 3961099 w 5531319"/>
              <a:gd name="connsiteY2" fmla="*/ 303581 h 4424065"/>
              <a:gd name="connsiteX3" fmla="*/ 4854587 w 5531319"/>
              <a:gd name="connsiteY3" fmla="*/ 764502 h 4424065"/>
              <a:gd name="connsiteX4" fmla="*/ 5377812 w 5531319"/>
              <a:gd name="connsiteY4" fmla="*/ 1339732 h 4424065"/>
              <a:gd name="connsiteX5" fmla="*/ 5526197 w 5531319"/>
              <a:gd name="connsiteY5" fmla="*/ 1825829 h 4424065"/>
              <a:gd name="connsiteX6" fmla="*/ 5510557 w 5531319"/>
              <a:gd name="connsiteY6" fmla="*/ 2199398 h 4424065"/>
              <a:gd name="connsiteX7" fmla="*/ 5509795 w 5531319"/>
              <a:gd name="connsiteY7" fmla="*/ 2402839 h 4424065"/>
              <a:gd name="connsiteX8" fmla="*/ 5323519 w 5531319"/>
              <a:gd name="connsiteY8" fmla="*/ 3144890 h 4424065"/>
              <a:gd name="connsiteX9" fmla="*/ 4853061 w 5531319"/>
              <a:gd name="connsiteY9" fmla="*/ 3612932 h 4424065"/>
              <a:gd name="connsiteX10" fmla="*/ 4316358 w 5531319"/>
              <a:gd name="connsiteY10" fmla="*/ 3982940 h 4424065"/>
              <a:gd name="connsiteX11" fmla="*/ 3352556 w 5531319"/>
              <a:gd name="connsiteY11" fmla="*/ 4386771 h 4424065"/>
              <a:gd name="connsiteX12" fmla="*/ 2770206 w 5531319"/>
              <a:gd name="connsiteY12" fmla="*/ 4412201 h 4424065"/>
              <a:gd name="connsiteX13" fmla="*/ 2514888 w 5531319"/>
              <a:gd name="connsiteY13" fmla="*/ 4393637 h 4424065"/>
              <a:gd name="connsiteX14" fmla="*/ 1903166 w 5531319"/>
              <a:gd name="connsiteY14" fmla="*/ 4263562 h 4424065"/>
              <a:gd name="connsiteX15" fmla="*/ 948392 w 5531319"/>
              <a:gd name="connsiteY15" fmla="*/ 3794249 h 4424065"/>
              <a:gd name="connsiteX16" fmla="*/ 223633 w 5531319"/>
              <a:gd name="connsiteY16" fmla="*/ 2975526 h 4424065"/>
              <a:gd name="connsiteX17" fmla="*/ 39519 w 5531319"/>
              <a:gd name="connsiteY17" fmla="*/ 2401695 h 4424065"/>
              <a:gd name="connsiteX18" fmla="*/ 16251 w 5531319"/>
              <a:gd name="connsiteY18" fmla="*/ 2300991 h 4424065"/>
              <a:gd name="connsiteX19" fmla="*/ 11800 w 5531319"/>
              <a:gd name="connsiteY19" fmla="*/ 2053556 h 4424065"/>
              <a:gd name="connsiteX20" fmla="*/ 812849 w 5531319"/>
              <a:gd name="connsiteY20" fmla="*/ 651084 h 4424065"/>
              <a:gd name="connsiteX21" fmla="*/ 2066809 w 5531319"/>
              <a:gd name="connsiteY21" fmla="*/ 52586 h 4424065"/>
              <a:gd name="connsiteX22" fmla="*/ 2332045 w 5531319"/>
              <a:gd name="connsiteY22" fmla="*/ 14441 h 4424065"/>
              <a:gd name="connsiteX23" fmla="*/ 2612540 w 5531319"/>
              <a:gd name="connsiteY23" fmla="*/ 836 h 4424065"/>
              <a:gd name="connsiteX24" fmla="*/ 5468597 w 5531319"/>
              <a:gd name="connsiteY24" fmla="*/ 2088522 h 4424065"/>
              <a:gd name="connsiteX25" fmla="*/ 5471140 w 5531319"/>
              <a:gd name="connsiteY25" fmla="*/ 1826083 h 4424065"/>
              <a:gd name="connsiteX26" fmla="*/ 5327079 w 5531319"/>
              <a:gd name="connsiteY26" fmla="*/ 1361348 h 4424065"/>
              <a:gd name="connsiteX27" fmla="*/ 4833353 w 5531319"/>
              <a:gd name="connsiteY27" fmla="*/ 816507 h 4424065"/>
              <a:gd name="connsiteX28" fmla="*/ 4063456 w 5531319"/>
              <a:gd name="connsiteY28" fmla="*/ 400724 h 4424065"/>
              <a:gd name="connsiteX29" fmla="*/ 3972543 w 5531319"/>
              <a:gd name="connsiteY29" fmla="*/ 365631 h 4424065"/>
              <a:gd name="connsiteX30" fmla="*/ 3885571 w 5531319"/>
              <a:gd name="connsiteY30" fmla="*/ 334733 h 4424065"/>
              <a:gd name="connsiteX31" fmla="*/ 4355012 w 5531319"/>
              <a:gd name="connsiteY31" fmla="*/ 579880 h 4424065"/>
              <a:gd name="connsiteX32" fmla="*/ 5144618 w 5531319"/>
              <a:gd name="connsiteY32" fmla="*/ 1290779 h 4424065"/>
              <a:gd name="connsiteX33" fmla="*/ 5468597 w 5531319"/>
              <a:gd name="connsiteY33" fmla="*/ 2088522 h 4424065"/>
              <a:gd name="connsiteX34" fmla="*/ 2219771 w 5531319"/>
              <a:gd name="connsiteY34" fmla="*/ 85645 h 4424065"/>
              <a:gd name="connsiteX35" fmla="*/ 2181626 w 5531319"/>
              <a:gd name="connsiteY35" fmla="*/ 89333 h 4424065"/>
              <a:gd name="connsiteX36" fmla="*/ 1462971 w 5531319"/>
              <a:gd name="connsiteY36" fmla="*/ 303073 h 4424065"/>
              <a:gd name="connsiteX37" fmla="*/ 308697 w 5531319"/>
              <a:gd name="connsiteY37" fmla="*/ 1338461 h 4424065"/>
              <a:gd name="connsiteX38" fmla="*/ 65839 w 5531319"/>
              <a:gd name="connsiteY38" fmla="*/ 2064364 h 4424065"/>
              <a:gd name="connsiteX39" fmla="*/ 82114 w 5531319"/>
              <a:gd name="connsiteY39" fmla="*/ 2022150 h 4424065"/>
              <a:gd name="connsiteX40" fmla="*/ 423260 w 5531319"/>
              <a:gd name="connsiteY40" fmla="*/ 1282260 h 4424065"/>
              <a:gd name="connsiteX41" fmla="*/ 1231811 w 5531319"/>
              <a:gd name="connsiteY41" fmla="*/ 454001 h 4424065"/>
              <a:gd name="connsiteX42" fmla="*/ 2219771 w 5531319"/>
              <a:gd name="connsiteY42" fmla="*/ 85645 h 4424065"/>
              <a:gd name="connsiteX43" fmla="*/ 2855524 w 5531319"/>
              <a:gd name="connsiteY43" fmla="*/ 4364392 h 4424065"/>
              <a:gd name="connsiteX44" fmla="*/ 4292327 w 5531319"/>
              <a:gd name="connsiteY44" fmla="*/ 3931444 h 4424065"/>
              <a:gd name="connsiteX45" fmla="*/ 2855652 w 5531319"/>
              <a:gd name="connsiteY45" fmla="*/ 4364392 h 4424065"/>
              <a:gd name="connsiteX46" fmla="*/ 3869805 w 5531319"/>
              <a:gd name="connsiteY46" fmla="*/ 330156 h 4424065"/>
              <a:gd name="connsiteX47" fmla="*/ 3865736 w 5531319"/>
              <a:gd name="connsiteY47" fmla="*/ 329520 h 4424065"/>
              <a:gd name="connsiteX48" fmla="*/ 3866499 w 5531319"/>
              <a:gd name="connsiteY48" fmla="*/ 330537 h 4424065"/>
              <a:gd name="connsiteX49" fmla="*/ 4302117 w 5531319"/>
              <a:gd name="connsiteY49" fmla="*/ 3923561 h 4424065"/>
              <a:gd name="connsiteX50" fmla="*/ 4301101 w 5531319"/>
              <a:gd name="connsiteY50" fmla="*/ 3924959 h 4424065"/>
              <a:gd name="connsiteX51" fmla="*/ 4302880 w 5531319"/>
              <a:gd name="connsiteY51" fmla="*/ 3924959 h 4424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5531319" h="4424065">
                <a:moveTo>
                  <a:pt x="2612540" y="836"/>
                </a:moveTo>
                <a:cubicBezTo>
                  <a:pt x="2715913" y="-4250"/>
                  <a:pt x="2831239" y="14695"/>
                  <a:pt x="2946310" y="35548"/>
                </a:cubicBezTo>
                <a:cubicBezTo>
                  <a:pt x="3291651" y="98106"/>
                  <a:pt x="3631143" y="182915"/>
                  <a:pt x="3961099" y="303581"/>
                </a:cubicBezTo>
                <a:cubicBezTo>
                  <a:pt x="4278340" y="419543"/>
                  <a:pt x="4581340" y="563350"/>
                  <a:pt x="4854587" y="764502"/>
                </a:cubicBezTo>
                <a:cubicBezTo>
                  <a:pt x="5067437" y="921152"/>
                  <a:pt x="5250407" y="1105521"/>
                  <a:pt x="5377812" y="1339732"/>
                </a:cubicBezTo>
                <a:cubicBezTo>
                  <a:pt x="5459811" y="1489986"/>
                  <a:pt x="5510303" y="1655396"/>
                  <a:pt x="5526197" y="1825829"/>
                </a:cubicBezTo>
                <a:cubicBezTo>
                  <a:pt x="5538276" y="1951327"/>
                  <a:pt x="5527341" y="2074917"/>
                  <a:pt x="5510557" y="2199398"/>
                </a:cubicBezTo>
                <a:cubicBezTo>
                  <a:pt x="5502966" y="2266991"/>
                  <a:pt x="5502712" y="2335195"/>
                  <a:pt x="5509795" y="2402839"/>
                </a:cubicBezTo>
                <a:cubicBezTo>
                  <a:pt x="5534207" y="2664197"/>
                  <a:pt x="5468471" y="2926051"/>
                  <a:pt x="5323519" y="3144890"/>
                </a:cubicBezTo>
                <a:cubicBezTo>
                  <a:pt x="5201339" y="3332234"/>
                  <a:pt x="5041041" y="3491719"/>
                  <a:pt x="4853061" y="3612932"/>
                </a:cubicBezTo>
                <a:cubicBezTo>
                  <a:pt x="4671109" y="3732072"/>
                  <a:pt x="4498565" y="3864563"/>
                  <a:pt x="4316358" y="3982940"/>
                </a:cubicBezTo>
                <a:cubicBezTo>
                  <a:pt x="4019716" y="4175573"/>
                  <a:pt x="3701076" y="4317347"/>
                  <a:pt x="3352556" y="4386771"/>
                </a:cubicBezTo>
                <a:cubicBezTo>
                  <a:pt x="3160953" y="4425590"/>
                  <a:pt x="2964455" y="4434173"/>
                  <a:pt x="2770206" y="4412201"/>
                </a:cubicBezTo>
                <a:cubicBezTo>
                  <a:pt x="2685524" y="4402537"/>
                  <a:pt x="2599952" y="4402410"/>
                  <a:pt x="2514888" y="4393637"/>
                </a:cubicBezTo>
                <a:cubicBezTo>
                  <a:pt x="2307136" y="4370851"/>
                  <a:pt x="2102208" y="4327277"/>
                  <a:pt x="1903166" y="4263562"/>
                </a:cubicBezTo>
                <a:cubicBezTo>
                  <a:pt x="1560622" y="4156119"/>
                  <a:pt x="1238931" y="4006972"/>
                  <a:pt x="948392" y="3794249"/>
                </a:cubicBezTo>
                <a:cubicBezTo>
                  <a:pt x="647553" y="3573897"/>
                  <a:pt x="396812" y="3308660"/>
                  <a:pt x="223633" y="2975526"/>
                </a:cubicBezTo>
                <a:cubicBezTo>
                  <a:pt x="129453" y="2796370"/>
                  <a:pt x="67149" y="2602198"/>
                  <a:pt x="39519" y="2401695"/>
                </a:cubicBezTo>
                <a:cubicBezTo>
                  <a:pt x="34509" y="2367555"/>
                  <a:pt x="26728" y="2333872"/>
                  <a:pt x="16251" y="2300991"/>
                </a:cubicBezTo>
                <a:cubicBezTo>
                  <a:pt x="-9180" y="2218598"/>
                  <a:pt x="-25" y="2135695"/>
                  <a:pt x="11800" y="2053556"/>
                </a:cubicBezTo>
                <a:cubicBezTo>
                  <a:pt x="93685" y="1480615"/>
                  <a:pt x="377867" y="1021983"/>
                  <a:pt x="812849" y="651084"/>
                </a:cubicBezTo>
                <a:cubicBezTo>
                  <a:pt x="1176754" y="340201"/>
                  <a:pt x="1598259" y="146042"/>
                  <a:pt x="2066809" y="52586"/>
                </a:cubicBezTo>
                <a:cubicBezTo>
                  <a:pt x="2154543" y="35039"/>
                  <a:pt x="2243040" y="23087"/>
                  <a:pt x="2332045" y="14441"/>
                </a:cubicBezTo>
                <a:cubicBezTo>
                  <a:pt x="2421051" y="5794"/>
                  <a:pt x="2508912" y="2107"/>
                  <a:pt x="2612540" y="836"/>
                </a:cubicBezTo>
                <a:close/>
                <a:moveTo>
                  <a:pt x="5468597" y="2088522"/>
                </a:moveTo>
                <a:cubicBezTo>
                  <a:pt x="5479329" y="2001424"/>
                  <a:pt x="5480181" y="1913385"/>
                  <a:pt x="5471140" y="1826083"/>
                </a:cubicBezTo>
                <a:cubicBezTo>
                  <a:pt x="5455336" y="1662962"/>
                  <a:pt x="5406306" y="1504799"/>
                  <a:pt x="5327079" y="1361348"/>
                </a:cubicBezTo>
                <a:cubicBezTo>
                  <a:pt x="5206159" y="1140233"/>
                  <a:pt x="5033361" y="965782"/>
                  <a:pt x="4833353" y="816507"/>
                </a:cubicBezTo>
                <a:cubicBezTo>
                  <a:pt x="4597234" y="640276"/>
                  <a:pt x="4336321" y="509438"/>
                  <a:pt x="4063456" y="400724"/>
                </a:cubicBezTo>
                <a:cubicBezTo>
                  <a:pt x="4033359" y="388607"/>
                  <a:pt x="4003059" y="376909"/>
                  <a:pt x="3972543" y="365631"/>
                </a:cubicBezTo>
                <a:cubicBezTo>
                  <a:pt x="3943679" y="354950"/>
                  <a:pt x="3914562" y="345033"/>
                  <a:pt x="3885571" y="334733"/>
                </a:cubicBezTo>
                <a:cubicBezTo>
                  <a:pt x="4046888" y="406840"/>
                  <a:pt x="4203652" y="488713"/>
                  <a:pt x="4355012" y="579880"/>
                </a:cubicBezTo>
                <a:cubicBezTo>
                  <a:pt x="4662081" y="768063"/>
                  <a:pt x="4933802" y="995790"/>
                  <a:pt x="5144618" y="1290779"/>
                </a:cubicBezTo>
                <a:cubicBezTo>
                  <a:pt x="5314364" y="1528042"/>
                  <a:pt x="5426257" y="1789591"/>
                  <a:pt x="5468597" y="2088522"/>
                </a:cubicBezTo>
                <a:close/>
                <a:moveTo>
                  <a:pt x="2219771" y="85645"/>
                </a:moveTo>
                <a:cubicBezTo>
                  <a:pt x="2206942" y="84005"/>
                  <a:pt x="2193909" y="85264"/>
                  <a:pt x="2181626" y="89333"/>
                </a:cubicBezTo>
                <a:cubicBezTo>
                  <a:pt x="1932919" y="125113"/>
                  <a:pt x="1690799" y="197118"/>
                  <a:pt x="1462971" y="303073"/>
                </a:cubicBezTo>
                <a:cubicBezTo>
                  <a:pt x="971788" y="529528"/>
                  <a:pt x="578129" y="865460"/>
                  <a:pt x="308697" y="1338461"/>
                </a:cubicBezTo>
                <a:cubicBezTo>
                  <a:pt x="180224" y="1561852"/>
                  <a:pt x="97652" y="1808638"/>
                  <a:pt x="65839" y="2064364"/>
                </a:cubicBezTo>
                <a:cubicBezTo>
                  <a:pt x="71942" y="2050505"/>
                  <a:pt x="77283" y="2036391"/>
                  <a:pt x="82114" y="2022150"/>
                </a:cubicBezTo>
                <a:cubicBezTo>
                  <a:pt x="170103" y="1763653"/>
                  <a:pt x="279579" y="1515073"/>
                  <a:pt x="423260" y="1282260"/>
                </a:cubicBezTo>
                <a:cubicBezTo>
                  <a:pt x="630769" y="945565"/>
                  <a:pt x="895370" y="664944"/>
                  <a:pt x="1231811" y="454001"/>
                </a:cubicBezTo>
                <a:cubicBezTo>
                  <a:pt x="1535192" y="263783"/>
                  <a:pt x="1866801" y="149729"/>
                  <a:pt x="2219771" y="85645"/>
                </a:cubicBezTo>
                <a:close/>
                <a:moveTo>
                  <a:pt x="2855524" y="4364392"/>
                </a:moveTo>
                <a:cubicBezTo>
                  <a:pt x="3386633" y="4394018"/>
                  <a:pt x="3853530" y="4210158"/>
                  <a:pt x="4292327" y="3931444"/>
                </a:cubicBezTo>
                <a:cubicBezTo>
                  <a:pt x="3830134" y="4131325"/>
                  <a:pt x="3346707" y="4259111"/>
                  <a:pt x="2855652" y="4364392"/>
                </a:cubicBezTo>
                <a:close/>
                <a:moveTo>
                  <a:pt x="3869805" y="330156"/>
                </a:moveTo>
                <a:lnTo>
                  <a:pt x="3865736" y="329520"/>
                </a:lnTo>
                <a:cubicBezTo>
                  <a:pt x="3865736" y="329520"/>
                  <a:pt x="3865736" y="330410"/>
                  <a:pt x="3866499" y="330537"/>
                </a:cubicBezTo>
                <a:close/>
                <a:moveTo>
                  <a:pt x="4302117" y="3923561"/>
                </a:moveTo>
                <a:lnTo>
                  <a:pt x="4301101" y="3924959"/>
                </a:lnTo>
                <a:lnTo>
                  <a:pt x="4302880" y="3924959"/>
                </a:lnTo>
                <a:close/>
              </a:path>
            </a:pathLst>
          </a:custGeom>
          <a:solidFill>
            <a:srgbClr val="0084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 idx="4294967295"/>
          </p:nvPr>
        </p:nvSpPr>
        <p:spPr>
          <a:xfrm>
            <a:off x="6589337" y="2236506"/>
            <a:ext cx="5231876" cy="1883087"/>
          </a:xfrm>
        </p:spPr>
        <p:txBody>
          <a:bodyPr>
            <a:noAutofit/>
          </a:bodyPr>
          <a:lstStyle/>
          <a:p>
            <a:pPr algn="ctr"/>
            <a:r>
              <a:rPr lang="de-DE" sz="8200" err="1">
                <a:solidFill>
                  <a:srgbClr val="FFFFFF"/>
                </a:solidFill>
                <a:latin typeface="The Hand"/>
              </a:rPr>
              <a:t>Conclusion</a:t>
            </a:r>
            <a:endParaRPr lang="de-DE" sz="8200">
              <a:solidFill>
                <a:srgbClr val="FFFFFF"/>
              </a:solidFill>
              <a:latin typeface="The Hand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4294967295"/>
          </p:nvPr>
        </p:nvSpPr>
        <p:spPr>
          <a:xfrm>
            <a:off x="6740716" y="3721552"/>
            <a:ext cx="4726070" cy="796082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</a:rPr>
              <a:t>La solution </a:t>
            </a:r>
            <a:r>
              <a:rPr lang="de-DE" sz="3600" dirty="0">
                <a:solidFill>
                  <a:srgbClr val="FFFFFF"/>
                </a:solidFill>
              </a:rPr>
              <a:t>d‘</a:t>
            </a:r>
            <a:r>
              <a:rPr lang="fr-FR" sz="3600" dirty="0">
                <a:solidFill>
                  <a:srgbClr val="FFFFFF"/>
                </a:solidFill>
              </a:rPr>
              <a:t>un</a:t>
            </a:r>
            <a:r>
              <a:rPr lang="de-DE" sz="3600" dirty="0">
                <a:solidFill>
                  <a:srgbClr val="FFFFFF"/>
                </a:solidFill>
              </a:rPr>
              <a:t> </a:t>
            </a:r>
            <a:r>
              <a:rPr lang="de-DE" sz="3600" noProof="1">
                <a:solidFill>
                  <a:srgbClr val="FFFFFF"/>
                </a:solidFill>
              </a:rPr>
              <a:t>pilotage financier sur mesure</a:t>
            </a:r>
          </a:p>
        </p:txBody>
      </p:sp>
      <p:sp>
        <p:nvSpPr>
          <p:cNvPr id="35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5874" y="4409267"/>
            <a:ext cx="3242551" cy="27432"/>
          </a:xfrm>
          <a:custGeom>
            <a:avLst/>
            <a:gdLst>
              <a:gd name="connsiteX0" fmla="*/ 0 w 3242551"/>
              <a:gd name="connsiteY0" fmla="*/ 0 h 27432"/>
              <a:gd name="connsiteX1" fmla="*/ 616085 w 3242551"/>
              <a:gd name="connsiteY1" fmla="*/ 0 h 27432"/>
              <a:gd name="connsiteX2" fmla="*/ 1264595 w 3242551"/>
              <a:gd name="connsiteY2" fmla="*/ 0 h 27432"/>
              <a:gd name="connsiteX3" fmla="*/ 1945531 w 3242551"/>
              <a:gd name="connsiteY3" fmla="*/ 0 h 27432"/>
              <a:gd name="connsiteX4" fmla="*/ 2626466 w 3242551"/>
              <a:gd name="connsiteY4" fmla="*/ 0 h 27432"/>
              <a:gd name="connsiteX5" fmla="*/ 3242551 w 3242551"/>
              <a:gd name="connsiteY5" fmla="*/ 0 h 27432"/>
              <a:gd name="connsiteX6" fmla="*/ 3242551 w 3242551"/>
              <a:gd name="connsiteY6" fmla="*/ 27432 h 27432"/>
              <a:gd name="connsiteX7" fmla="*/ 2529190 w 3242551"/>
              <a:gd name="connsiteY7" fmla="*/ 27432 h 27432"/>
              <a:gd name="connsiteX8" fmla="*/ 1815829 w 3242551"/>
              <a:gd name="connsiteY8" fmla="*/ 27432 h 27432"/>
              <a:gd name="connsiteX9" fmla="*/ 1167318 w 3242551"/>
              <a:gd name="connsiteY9" fmla="*/ 27432 h 27432"/>
              <a:gd name="connsiteX10" fmla="*/ 0 w 3242551"/>
              <a:gd name="connsiteY10" fmla="*/ 27432 h 27432"/>
              <a:gd name="connsiteX11" fmla="*/ 0 w 3242551"/>
              <a:gd name="connsiteY11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42551" h="27432" fill="none" extrusionOk="0">
                <a:moveTo>
                  <a:pt x="0" y="0"/>
                </a:moveTo>
                <a:cubicBezTo>
                  <a:pt x="194108" y="-30346"/>
                  <a:pt x="476260" y="9901"/>
                  <a:pt x="616085" y="0"/>
                </a:cubicBezTo>
                <a:cubicBezTo>
                  <a:pt x="755911" y="-9901"/>
                  <a:pt x="955441" y="-31994"/>
                  <a:pt x="1264595" y="0"/>
                </a:cubicBezTo>
                <a:cubicBezTo>
                  <a:pt x="1573749" y="31994"/>
                  <a:pt x="1618785" y="-7447"/>
                  <a:pt x="1945531" y="0"/>
                </a:cubicBezTo>
                <a:cubicBezTo>
                  <a:pt x="2272277" y="7447"/>
                  <a:pt x="2390625" y="1646"/>
                  <a:pt x="2626466" y="0"/>
                </a:cubicBezTo>
                <a:cubicBezTo>
                  <a:pt x="2862308" y="-1646"/>
                  <a:pt x="3064770" y="5184"/>
                  <a:pt x="3242551" y="0"/>
                </a:cubicBezTo>
                <a:cubicBezTo>
                  <a:pt x="3241385" y="7395"/>
                  <a:pt x="3242596" y="21864"/>
                  <a:pt x="3242551" y="27432"/>
                </a:cubicBezTo>
                <a:cubicBezTo>
                  <a:pt x="3023282" y="59750"/>
                  <a:pt x="2875833" y="36030"/>
                  <a:pt x="2529190" y="27432"/>
                </a:cubicBezTo>
                <a:cubicBezTo>
                  <a:pt x="2182547" y="18834"/>
                  <a:pt x="2011286" y="10066"/>
                  <a:pt x="1815829" y="27432"/>
                </a:cubicBezTo>
                <a:cubicBezTo>
                  <a:pt x="1620372" y="44798"/>
                  <a:pt x="1410011" y="-1058"/>
                  <a:pt x="1167318" y="27432"/>
                </a:cubicBezTo>
                <a:cubicBezTo>
                  <a:pt x="924625" y="55922"/>
                  <a:pt x="241931" y="85033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w="3242551" h="27432" stroke="0" extrusionOk="0">
                <a:moveTo>
                  <a:pt x="0" y="0"/>
                </a:moveTo>
                <a:cubicBezTo>
                  <a:pt x="292987" y="-12051"/>
                  <a:pt x="313221" y="-4437"/>
                  <a:pt x="616085" y="0"/>
                </a:cubicBezTo>
                <a:cubicBezTo>
                  <a:pt x="918950" y="4437"/>
                  <a:pt x="1001475" y="-7765"/>
                  <a:pt x="1167318" y="0"/>
                </a:cubicBezTo>
                <a:cubicBezTo>
                  <a:pt x="1333161" y="7765"/>
                  <a:pt x="1642740" y="34995"/>
                  <a:pt x="1880680" y="0"/>
                </a:cubicBezTo>
                <a:cubicBezTo>
                  <a:pt x="2118620" y="-34995"/>
                  <a:pt x="2326628" y="756"/>
                  <a:pt x="2496764" y="0"/>
                </a:cubicBezTo>
                <a:cubicBezTo>
                  <a:pt x="2666900" y="-756"/>
                  <a:pt x="2887316" y="25599"/>
                  <a:pt x="3242551" y="0"/>
                </a:cubicBezTo>
                <a:cubicBezTo>
                  <a:pt x="3242744" y="12649"/>
                  <a:pt x="3241563" y="17989"/>
                  <a:pt x="3242551" y="27432"/>
                </a:cubicBezTo>
                <a:cubicBezTo>
                  <a:pt x="3008998" y="-2757"/>
                  <a:pt x="2799879" y="44559"/>
                  <a:pt x="2594041" y="27432"/>
                </a:cubicBezTo>
                <a:cubicBezTo>
                  <a:pt x="2388203" y="10306"/>
                  <a:pt x="2212925" y="-2221"/>
                  <a:pt x="1880680" y="27432"/>
                </a:cubicBezTo>
                <a:cubicBezTo>
                  <a:pt x="1548435" y="57085"/>
                  <a:pt x="1523943" y="37041"/>
                  <a:pt x="1329446" y="27432"/>
                </a:cubicBezTo>
                <a:cubicBezTo>
                  <a:pt x="1134949" y="17823"/>
                  <a:pt x="919920" y="28299"/>
                  <a:pt x="680936" y="27432"/>
                </a:cubicBezTo>
                <a:cubicBezTo>
                  <a:pt x="441952" y="26566"/>
                  <a:pt x="273000" y="57219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rgbClr val="0084FF"/>
          </a:solidFill>
          <a:ln w="38100" cap="rnd">
            <a:solidFill>
              <a:srgbClr val="0084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he Hand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ABD93D-6262-471E-95CD-475907DA3A5E}"/>
              </a:ext>
            </a:extLst>
          </p:cNvPr>
          <p:cNvSpPr txBox="1"/>
          <p:nvPr/>
        </p:nvSpPr>
        <p:spPr>
          <a:xfrm>
            <a:off x="2124484" y="4392505"/>
            <a:ext cx="30218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  <a:ea typeface="+mn-ea"/>
                <a:cs typeface="+mn-cs"/>
              </a:rPr>
              <a:t>Merci pour votre écoute</a:t>
            </a:r>
            <a:b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  <a:ea typeface="+mn-ea"/>
                <a:cs typeface="+mn-cs"/>
              </a:rPr>
            </a:b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e Hand"/>
                <a:ea typeface="+mn-ea"/>
                <a:cs typeface="+mn-cs"/>
              </a:rPr>
              <a:t>Avez-vous des questions ?</a:t>
            </a:r>
          </a:p>
        </p:txBody>
      </p:sp>
      <p:pic>
        <p:nvPicPr>
          <p:cNvPr id="5" name="Picture 4" descr="A black background with blue letters&#10;&#10;AI-generated content may be incorrect.">
            <a:extLst>
              <a:ext uri="{FF2B5EF4-FFF2-40B4-BE49-F238E27FC236}">
                <a16:creationId xmlns:a16="http://schemas.microsoft.com/office/drawing/2014/main" id="{AB5C2FDA-C0E5-A7B4-E65B-7E6054616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839" y="1284829"/>
            <a:ext cx="2743200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181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Modern Love"/>
        <a:ea typeface=""/>
        <a:cs typeface=""/>
      </a:majorFont>
      <a:minorFont>
        <a:latin typeface="The H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1100</TotalTime>
  <Words>151</Words>
  <Application>Microsoft Office PowerPoint</Application>
  <PresentationFormat>Widescreen</PresentationFormat>
  <Paragraphs>41</Paragraphs>
  <Slides>15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SketchyVTI</vt:lpstr>
      <vt:lpstr>Soutenance d‘alternance</vt:lpstr>
      <vt:lpstr>Sommaire</vt:lpstr>
      <vt:lpstr>Introduction</vt:lpstr>
      <vt:lpstr>Aide à la décision financière sur mesure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 place dans son développement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Dorian Ayoul</dc:creator>
  <cp:lastModifiedBy>Dorian Ayoul</cp:lastModifiedBy>
  <cp:revision>58</cp:revision>
  <dcterms:created xsi:type="dcterms:W3CDTF">2025-05-30T07:16:22Z</dcterms:created>
  <dcterms:modified xsi:type="dcterms:W3CDTF">2025-06-20T15:22:49Z</dcterms:modified>
</cp:coreProperties>
</file>